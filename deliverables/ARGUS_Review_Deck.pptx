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d0ec56d6fd04afd" /><Relationship Type="http://schemas.openxmlformats.org/officeDocument/2006/relationships/extended-properties" Target="/docProps/app.xml" Id="Ra17555321fd64b7a" /><Relationship Type="http://schemas.openxmlformats.org/officeDocument/2006/relationships/officeDocument" Target="/ppt/presentation.xml" Id="Rbac4decc5e504976" /></Relationships>
</file>

<file path=ppt/presentation.xml><?xml version="1.0" encoding="utf-8"?>
<p:presentation xmlns:p="http://schemas.openxmlformats.org/presentationml/2006/main">
  <p:sldMasterIdLst>
    <p:sldMasterId xmlns:r="http://schemas.openxmlformats.org/officeDocument/2006/relationships" id="2147483648" r:id="R1a21ac38904b4f5c"/>
  </p:sldMasterIdLst>
  <p:notesMasterIdLst>
    <p:notesMasterId xmlns:r="http://schemas.openxmlformats.org/officeDocument/2006/relationships" r:id="R8bf4410901b647d2"/>
  </p:notesMasterIdLst>
  <p:sldIdLst>
    <p:sldId xmlns:r="http://schemas.openxmlformats.org/officeDocument/2006/relationships" id="256" r:id="R62a99df4da634be1"/>
    <p:sldId xmlns:r="http://schemas.openxmlformats.org/officeDocument/2006/relationships" id="257" r:id="R4f161216b558465f"/>
    <p:sldId xmlns:r="http://schemas.openxmlformats.org/officeDocument/2006/relationships" id="258" r:id="R98215cafcc6e41af"/>
    <p:sldId xmlns:r="http://schemas.openxmlformats.org/officeDocument/2006/relationships" id="259" r:id="Re65a93f6ca2e4ba6"/>
    <p:sldId xmlns:r="http://schemas.openxmlformats.org/officeDocument/2006/relationships" id="260" r:id="Rcfe12ec52bf24ad8"/>
    <p:sldId xmlns:r="http://schemas.openxmlformats.org/officeDocument/2006/relationships" id="261" r:id="Rd2d5304bb1ff45fb"/>
    <p:sldId xmlns:r="http://schemas.openxmlformats.org/officeDocument/2006/relationships" id="262" r:id="R085d544a2094411f"/>
    <p:sldId xmlns:r="http://schemas.openxmlformats.org/officeDocument/2006/relationships" id="263" r:id="R41187abdf0854a3e"/>
    <p:sldId xmlns:r="http://schemas.openxmlformats.org/officeDocument/2006/relationships" id="264" r:id="Rf3269c6de4c14dc3"/>
    <p:sldId xmlns:r="http://schemas.openxmlformats.org/officeDocument/2006/relationships" id="265" r:id="R84b232d982a44455"/>
    <p:sldId xmlns:r="http://schemas.openxmlformats.org/officeDocument/2006/relationships" id="266" r:id="R6385d14d93414887"/>
    <p:sldId xmlns:r="http://schemas.openxmlformats.org/officeDocument/2006/relationships" id="267" r:id="R1e9645fae60d4591"/>
    <p:sldId xmlns:r="http://schemas.openxmlformats.org/officeDocument/2006/relationships" id="268" r:id="R7eb61c48c6a34745"/>
    <p:sldId xmlns:r="http://schemas.openxmlformats.org/officeDocument/2006/relationships" id="269" r:id="R9aea2761f9704f28"/>
    <p:sldId xmlns:r="http://schemas.openxmlformats.org/officeDocument/2006/relationships" id="270" r:id="Rffa7f2eb2ef946b1"/>
    <p:sldId xmlns:r="http://schemas.openxmlformats.org/officeDocument/2006/relationships" id="271" r:id="R2d33a223345d4645"/>
    <p:sldId xmlns:r="http://schemas.openxmlformats.org/officeDocument/2006/relationships" id="272" r:id="Re564aef6a8fc42cc"/>
    <p:sldId xmlns:r="http://schemas.openxmlformats.org/officeDocument/2006/relationships" id="273" r:id="R83289498b13f42ce"/>
    <p:sldId xmlns:r="http://schemas.openxmlformats.org/officeDocument/2006/relationships" id="274" r:id="R2e07ae53d9264d47"/>
    <p:sldId xmlns:r="http://schemas.openxmlformats.org/officeDocument/2006/relationships" id="275" r:id="Rdc14477fa4814b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0e249fd77f4564" /><Relationship Type="http://schemas.openxmlformats.org/officeDocument/2006/relationships/slideMaster" Target="/ppt/slideMasters/slideMaster1.xml" Id="R1a21ac38904b4f5c" /><Relationship Type="http://schemas.openxmlformats.org/officeDocument/2006/relationships/notesMaster" Target="/ppt/notesMasters/notesMaster1.xml" Id="R8bf4410901b647d2" /><Relationship Type="http://schemas.openxmlformats.org/officeDocument/2006/relationships/presProps" Target="/ppt/presProps.xml" Id="R1d2fec56c1484663" /><Relationship Type="http://schemas.openxmlformats.org/officeDocument/2006/relationships/tableStyles" Target="/ppt/tableStyles.xml" Id="R9c4a92fbdb084a5a" /><Relationship Type="http://schemas.openxmlformats.org/officeDocument/2006/relationships/slide" Target="/ppt/slides/slide1.xml" Id="R62a99df4da634be1" /><Relationship Type="http://schemas.openxmlformats.org/officeDocument/2006/relationships/slide" Target="/ppt/slides/slide2.xml" Id="R4f161216b558465f" /><Relationship Type="http://schemas.openxmlformats.org/officeDocument/2006/relationships/slide" Target="/ppt/slides/slide3.xml" Id="R98215cafcc6e41af" /><Relationship Type="http://schemas.openxmlformats.org/officeDocument/2006/relationships/slide" Target="/ppt/slides/slide4.xml" Id="Re65a93f6ca2e4ba6" /><Relationship Type="http://schemas.openxmlformats.org/officeDocument/2006/relationships/slide" Target="/ppt/slides/slide5.xml" Id="Rcfe12ec52bf24ad8" /><Relationship Type="http://schemas.openxmlformats.org/officeDocument/2006/relationships/slide" Target="/ppt/slides/slide6.xml" Id="Rd2d5304bb1ff45fb" /><Relationship Type="http://schemas.openxmlformats.org/officeDocument/2006/relationships/slide" Target="/ppt/slides/slide7.xml" Id="R085d544a2094411f" /><Relationship Type="http://schemas.openxmlformats.org/officeDocument/2006/relationships/slide" Target="/ppt/slides/slide8.xml" Id="R41187abdf0854a3e" /><Relationship Type="http://schemas.openxmlformats.org/officeDocument/2006/relationships/slide" Target="/ppt/slides/slide9.xml" Id="Rf3269c6de4c14dc3" /><Relationship Type="http://schemas.openxmlformats.org/officeDocument/2006/relationships/slide" Target="/ppt/slides/slide10.xml" Id="R84b232d982a44455" /><Relationship Type="http://schemas.openxmlformats.org/officeDocument/2006/relationships/slide" Target="/ppt/slides/slide11.xml" Id="R6385d14d93414887" /><Relationship Type="http://schemas.openxmlformats.org/officeDocument/2006/relationships/slide" Target="/ppt/slides/slide12.xml" Id="R1e9645fae60d4591" /><Relationship Type="http://schemas.openxmlformats.org/officeDocument/2006/relationships/slide" Target="/ppt/slides/slide13.xml" Id="R7eb61c48c6a34745" /><Relationship Type="http://schemas.openxmlformats.org/officeDocument/2006/relationships/slide" Target="/ppt/slides/slide14.xml" Id="R9aea2761f9704f28" /><Relationship Type="http://schemas.openxmlformats.org/officeDocument/2006/relationships/slide" Target="/ppt/slides/slide15.xml" Id="Rffa7f2eb2ef946b1" /><Relationship Type="http://schemas.openxmlformats.org/officeDocument/2006/relationships/slide" Target="/ppt/slides/slide16.xml" Id="R2d33a223345d4645" /><Relationship Type="http://schemas.openxmlformats.org/officeDocument/2006/relationships/slide" Target="/ppt/slides/slide17.xml" Id="Re564aef6a8fc42cc" /><Relationship Type="http://schemas.openxmlformats.org/officeDocument/2006/relationships/slide" Target="/ppt/slides/slide18.xml" Id="R83289498b13f42ce" /><Relationship Type="http://schemas.openxmlformats.org/officeDocument/2006/relationships/slide" Target="/ppt/slides/slide19.xml" Id="R2e07ae53d9264d47" /><Relationship Type="http://schemas.openxmlformats.org/officeDocument/2006/relationships/slide" Target="/ppt/slides/slide20.xml" Id="Rdc14477fa4814b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f462443cde4d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b950c0c9d746c1" /><Relationship Type="http://schemas.openxmlformats.org/officeDocument/2006/relationships/notesMaster" Target="/ppt/notesMasters/notesMaster1.xml" Id="R312850e6af7046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d2bc0e53ed49e6" /><Relationship Type="http://schemas.openxmlformats.org/officeDocument/2006/relationships/notesMaster" Target="/ppt/notesMasters/notesMaster1.xml" Id="Rf6c6301dd4ad4e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f0f78c1c274c3e" /><Relationship Type="http://schemas.openxmlformats.org/officeDocument/2006/relationships/notesMaster" Target="/ppt/notesMasters/notesMaster1.xml" Id="R5828fa12db7c42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2cb4427769467a" /><Relationship Type="http://schemas.openxmlformats.org/officeDocument/2006/relationships/notesMaster" Target="/ppt/notesMasters/notesMaster1.xml" Id="Re0976b2f76844f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b66ce46ec34edc" /><Relationship Type="http://schemas.openxmlformats.org/officeDocument/2006/relationships/notesMaster" Target="/ppt/notesMasters/notesMaster1.xml" Id="Rffc08bfdb9974e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8dc361ddaf4652" /><Relationship Type="http://schemas.openxmlformats.org/officeDocument/2006/relationships/notesMaster" Target="/ppt/notesMasters/notesMaster1.xml" Id="R25750c7933a34c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bf390f16c14e4e" /><Relationship Type="http://schemas.openxmlformats.org/officeDocument/2006/relationships/notesMaster" Target="/ppt/notesMasters/notesMaster1.xml" Id="Rfaaccfb456f546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44ed9e17e84843" /><Relationship Type="http://schemas.openxmlformats.org/officeDocument/2006/relationships/notesMaster" Target="/ppt/notesMasters/notesMaster1.xml" Id="Rf35d7e57cbda47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536abc8f764671" /><Relationship Type="http://schemas.openxmlformats.org/officeDocument/2006/relationships/notesMaster" Target="/ppt/notesMasters/notesMaster1.xml" Id="R3a95dd5ba33a4c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b6693058124335" /><Relationship Type="http://schemas.openxmlformats.org/officeDocument/2006/relationships/notesMaster" Target="/ppt/notesMasters/notesMaster1.xml" Id="R1051437a09094f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d42fd2b6f54aa7" /><Relationship Type="http://schemas.openxmlformats.org/officeDocument/2006/relationships/notesMaster" Target="/ppt/notesMasters/notesMaster1.xml" Id="Rb8bfedabf27f4d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3c2d3cdcea43a8" /><Relationship Type="http://schemas.openxmlformats.org/officeDocument/2006/relationships/notesMaster" Target="/ppt/notesMasters/notesMaster1.xml" Id="Rbfcf5b7d351c47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ca8d5836a54c0e" /><Relationship Type="http://schemas.openxmlformats.org/officeDocument/2006/relationships/notesMaster" Target="/ppt/notesMasters/notesMaster1.xml" Id="R699945ccb0794e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052404c40849e5" /><Relationship Type="http://schemas.openxmlformats.org/officeDocument/2006/relationships/notesMaster" Target="/ppt/notesMasters/notesMaster1.xml" Id="Re44be97dc24947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6351ffe54c4921" /><Relationship Type="http://schemas.openxmlformats.org/officeDocument/2006/relationships/notesMaster" Target="/ppt/notesMasters/notesMaster1.xml" Id="R8af2f27eb656403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c2db9c66ea410e" /><Relationship Type="http://schemas.openxmlformats.org/officeDocument/2006/relationships/notesMaster" Target="/ppt/notesMasters/notesMaster1.xml" Id="R2fed558bcd964c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e3f8f47682439f" /><Relationship Type="http://schemas.openxmlformats.org/officeDocument/2006/relationships/notesMaster" Target="/ppt/notesMasters/notesMaster1.xml" Id="R158555a8cb4043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38c44df3c74bb4" /><Relationship Type="http://schemas.openxmlformats.org/officeDocument/2006/relationships/notesMaster" Target="/ppt/notesMasters/notesMaster1.xml" Id="Rb7f365c053ce4ed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825fd7cc1864aad" /><Relationship Type="http://schemas.openxmlformats.org/officeDocument/2006/relationships/notesMaster" Target="/ppt/notesMasters/notesMaster1.xml" Id="Rcff72745c99144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9f3bef57834a0d" /><Relationship Type="http://schemas.openxmlformats.org/officeDocument/2006/relationships/notesMaster" Target="/ppt/notesMasters/notesMaster1.xml" Id="R227e4a90591340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Munis Aparji V S, Mithin Sagar S and Janit B Guide: Dr. Premanand V BCSE497J, SCOPE, Vellore Institute of Technology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An anomaly score locates a candidate interval but does not explain it. Generated descriptions can introduce unsupported objects or intent. ARGUS records claims, independent evidence and review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P1: How can a candidate anomaly window be explained? P2: Which generated claims have supporting evidence? P3: How well do interpretable severity factors agree with humans? P4: Can every recommendation remain inside a closed vocabulary?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Surveillance Video-and-Language Understanding: From Small to Large Multimodal Models. https://doi.org/10.1109/tcsvt.2024.3462433</a:t>
            </a:r>
          </a:p>
          <a:p xmlns:a="http://schemas.openxmlformats.org/drawingml/2006/main">
            <a:r>
              <a:t>Learning Prompt-Enhanced Context Features for Weakly-Supervised Video Anomaly Detection. https://doi.org/10.1109/tip.2024.3451935</a:t>
            </a:r>
          </a:p>
          <a:p xmlns:a="http://schemas.openxmlformats.org/drawingml/2006/main">
            <a:r>
              <a:t>Video Violence Rating: A Large-Scale Public Database and A Multimodal Rating Model. https://doi.org/10.1109/tmm.2024.3379893</a:t>
            </a:r>
          </a:p>
          <a:p xmlns:a="http://schemas.openxmlformats.org/drawingml/2006/main">
            <a:r>
              <a:t>StrongSORT: Make DeepSORT Great Again. https://doi.org/10.1109/tmm.2023.3240881</a:t>
            </a:r>
          </a:p>
          <a:p xmlns:a="http://schemas.openxmlformats.org/drawingml/2006/main">
            <a:r>
              <a:t>BatchNorm-Based Weakly Supervised Video Anomaly Detection. https://doi.org/10.1109/tcsvt.2024.3450734</a:t>
            </a:r>
          </a:p>
          <a:p xmlns:a="http://schemas.openxmlformats.org/drawingml/2006/main">
            <a:r>
              <a:t>Weakly-Supervised Video Anomaly Detection With Snippet Anomalous Attention. https://doi.org/10.1109/tcsvt.2024.3350084</a:t>
            </a:r>
          </a:p>
          <a:p xmlns:a="http://schemas.openxmlformats.org/drawingml/2006/main">
            <a:r>
              <a:t>Extended Graph Learning for Weakly Supervised Video Anomaly Detection. https://doi.org/10.1109/tcsvt.2025.3625570</a:t>
            </a:r>
          </a:p>
          <a:p xmlns:a="http://schemas.openxmlformats.org/drawingml/2006/main">
            <a:r>
              <a:t>Enhancing Weakly-Supervised Video Anomaly Detection With Temporal Constraints. https://doi.org/10.1109/access.2025.3560767</a:t>
            </a:r>
          </a:p>
          <a:p xmlns:a="http://schemas.openxmlformats.org/drawingml/2006/main">
            <a:r>
              <a:t>Reconstructive Visual Tuning for Weakly Supervised Video Anomaly Detection. https://doi.org/10.1109/tifs.2026.3729516</a:t>
            </a:r>
          </a:p>
          <a:p xmlns:a="http://schemas.openxmlformats.org/drawingml/2006/main">
            <a:r>
              <a:t>Delving Into Instance Modeling for Weakly Supervised Video Anomaly Detection. https://doi.org/10.1109/tcsvt.2025.3546766</a:t>
            </a:r>
          </a:p>
          <a:p xmlns:a="http://schemas.openxmlformats.org/drawingml/2006/main">
            <a:r>
              <a:t>Learning Confidence-Aware Prototypes for Weakly-Supervised Video Anomaly Detection. https://doi.org/10.1109/tcsvt.2025.3628630</a:t>
            </a:r>
          </a:p>
          <a:p xmlns:a="http://schemas.openxmlformats.org/drawingml/2006/main">
            <a:r>
              <a:t>Enhancing Weakly Supervised Multimodal Video Anomaly Detection Through Text Guidance. https://doi.org/10.1109/tmm.2026.3668927</a:t>
            </a:r>
          </a:p>
          <a:p xmlns:a="http://schemas.openxmlformats.org/drawingml/2006/main">
            <a:r>
              <a:t>Feature Differentiation Reconstruction Network for Weakly-Supervised Video Anomaly Detection. https://doi.org/10.1109/lsp.2023.3324299</a:t>
            </a:r>
          </a:p>
          <a:p xmlns:a="http://schemas.openxmlformats.org/drawingml/2006/main">
            <a:r>
              <a:t>Audio-Visual Collaborative Learning for Weakly Supervised Video Anomaly Detection. https://doi.org/10.1109/tmm.2025.3535377</a:t>
            </a:r>
          </a:p>
          <a:p xmlns:a="http://schemas.openxmlformats.org/drawingml/2006/main">
            <a:r>
              <a:t>PLOVAD: Prompting Vision-Language Models for Open Vocabulary Video Anomaly Detection. https://doi.org/10.1109/tcsvt.2025.3528108Speaker notes: Surveillance video-language understanding defines the task family. PEL4VAD supplies a reproducible weak-supervision comparator. Video Violence Rating establishes a precedent for graded severity. StrongSORT provides context for tracking quality and association.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Surveillance Video-and-Language Understanding: From Small to Large Multimodal Models. https://doi.org/10.1109/tcsvt.2024.3462433</a:t>
            </a:r>
          </a:p>
          <a:p xmlns:a="http://schemas.openxmlformats.org/drawingml/2006/main">
            <a:r>
              <a:t>Learning Prompt-Enhanced Context Features for Weakly-Supervised Video Anomaly Detection. https://doi.org/10.1109/tip.2024.3451935</a:t>
            </a:r>
          </a:p>
          <a:p xmlns:a="http://schemas.openxmlformats.org/drawingml/2006/main">
            <a:r>
              <a:t>Video Violence Rating: A Large-Scale Public Database and A Multimodal Rating Model. https://doi.org/10.1109/tmm.2024.3379893</a:t>
            </a:r>
          </a:p>
          <a:p xmlns:a="http://schemas.openxmlformats.org/drawingml/2006/main">
            <a:r>
              <a:t>StrongSORT: Make DeepSORT Great Again. https://doi.org/10.1109/tmm.2023.3240881</a:t>
            </a:r>
          </a:p>
          <a:p xmlns:a="http://schemas.openxmlformats.org/drawingml/2006/main">
            <a:r>
              <a:t>BatchNorm-Based Weakly Supervised Video Anomaly Detection. https://doi.org/10.1109/tcsvt.2024.3450734</a:t>
            </a:r>
          </a:p>
          <a:p xmlns:a="http://schemas.openxmlformats.org/drawingml/2006/main">
            <a:r>
              <a:t>Weakly-Supervised Video Anomaly Detection With Snippet Anomalous Attention. https://doi.org/10.1109/tcsvt.2024.3350084</a:t>
            </a:r>
          </a:p>
          <a:p xmlns:a="http://schemas.openxmlformats.org/drawingml/2006/main">
            <a:r>
              <a:t>Extended Graph Learning for Weakly Supervised Video Anomaly Detection. https://doi.org/10.1109/tcsvt.2025.3625570</a:t>
            </a:r>
          </a:p>
          <a:p xmlns:a="http://schemas.openxmlformats.org/drawingml/2006/main">
            <a:r>
              <a:t>Enhancing Weakly-Supervised Video Anomaly Detection With Temporal Constraints. https://doi.org/10.1109/access.2025.3560767</a:t>
            </a:r>
          </a:p>
          <a:p xmlns:a="http://schemas.openxmlformats.org/drawingml/2006/main">
            <a:r>
              <a:t>Reconstructive Visual Tuning for Weakly Supervised Video Anomaly Detection. https://doi.org/10.1109/tifs.2026.3729516</a:t>
            </a:r>
          </a:p>
          <a:p xmlns:a="http://schemas.openxmlformats.org/drawingml/2006/main">
            <a:r>
              <a:t>Delving Into Instance Modeling for Weakly Supervised Video Anomaly Detection. https://doi.org/10.1109/tcsvt.2025.3546766</a:t>
            </a:r>
          </a:p>
          <a:p xmlns:a="http://schemas.openxmlformats.org/drawingml/2006/main">
            <a:r>
              <a:t>Learning Confidence-Aware Prototypes for Weakly-Supervised Video Anomaly Detection. https://doi.org/10.1109/tcsvt.2025.3628630</a:t>
            </a:r>
          </a:p>
          <a:p xmlns:a="http://schemas.openxmlformats.org/drawingml/2006/main">
            <a:r>
              <a:t>Enhancing Weakly Supervised Multimodal Video Anomaly Detection Through Text Guidance. https://doi.org/10.1109/tmm.2026.3668927</a:t>
            </a:r>
          </a:p>
          <a:p xmlns:a="http://schemas.openxmlformats.org/drawingml/2006/main">
            <a:r>
              <a:t>Feature Differentiation Reconstruction Network for Weakly-Supervised Video Anomaly Detection. https://doi.org/10.1109/lsp.2023.3324299</a:t>
            </a:r>
          </a:p>
          <a:p xmlns:a="http://schemas.openxmlformats.org/drawingml/2006/main">
            <a:r>
              <a:t>Audio-Visual Collaborative Learning for Weakly Supervised Video Anomaly Detection. https://doi.org/10.1109/tmm.2025.3535377</a:t>
            </a:r>
          </a:p>
          <a:p xmlns:a="http://schemas.openxmlformats.org/drawingml/2006/main">
            <a:r>
              <a:t>PLOVAD: Prompting Vision-Language Models for Open Vocabulary Video Anomaly Detection. https://doi.org/10.1109/tcsvt.2025.3528108Speaker notes: Normalization and snippet attention inform the detector design. Temporal, graph and feature-modeling work expands the comparison set. Language-guided detection already exists. ARGUS does not claim it as novel. Metadata verification supports attribution; full-text replication remains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M1 features, M2 temporal detection and M3 independent evidence M4 structured language and M5 conservative verification M6 inspectable severity and M7 validated recommendations The automatic terminal state awaits a human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UCF-Crime: WHEN, using weak video labels and pre-released features. UCA: WHAT TO SAY, for temporal language alignment. XD-Violence: GENERALISE, held out and evaluated with AP. SIRB: HOW SERIOUS AND DO WHAT, requiring new human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Eight generated clips contain coloured person, bag and vehicle sprites. Pixel segmentation and geometric tracking produce actual sample evidence. A motion baseline and authored language cache keep the demo independent of GPUs. Sample labels and reference severity are explicitly identified.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Resample to 25 fps and aggregate 16-frame snippets, each spanning 0.64 seconds. Four temporal transformer layers use LayerNorm and positional encoding. MIL top-k pooling, attention and erasing losses train from video-level labels. Independent validation selects checkpoints; test labels remain held 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A frozen DETR adapter supports research clips. A geometric IoU tracker uses clip-local IDs without biometric embeddings. Counts use simultaneous detections rather than fragmented track totals. Keyframes combine detection density and motion with temporal spacing.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The optional Qwen batch constrains output to the claim JSON schema. Each clip saves independently, allowing interrupted notebook jobs to resume. Generation has at most three parsing attempts and one explicit critic retry. The default CPU console consumes validated cached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Authored output says a person is holding a knife. The synthetic detector evidence supports people and a bag. The critic rejects the knife claim and leaves it visible in the ledger. A detector miss still means missing support, not proof of absence.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Inspect sentence text as well as declared entities. Check object support, simultaneous counts and the claimed interval. Use curated aliases and one-way hypernym matching. Downgrade intent and unsupported interactions; never add new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Only VERIFIED OBSERVATION claims contribute automatic factors. Seven context or event factors remain unavailable without independent support. A constrained ordinal fitting tool learns weights from independent human ratings. Reference weights are uncalibrated until fitting and held-out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The policy table proposes actions from category and severity. A validator strips unknown tokens and counts every invalid proposal. Confirm and dismiss create transactional append-only audit entries. No code dispatches responders, sends messages or performs enforcement.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A deterministic sampling manifest assigns 20 percent overlap. Operators enter factors, overall score, action labels and evidence spans. Independent sessions remain separate until a third review resolves disagreements. Annotation-only export excludes synthetic practice labels and source footage.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Source: artifacts/metrics.json; generated directly from the delivered sample records.</a:t>
            </a:r>
          </a:p>
          <a:p xmlns:a="http://schemas.openxmlformats.org/drawingml/2006/main">
            <a:r>
              <a:t>Speaker notes: All eight clips pass through the seven-stage pipeline. Backend tests cover rejection, retry bounds, severity isolation and audit transactions. Browser checks exercise playback, all screens and WebSocket runs. The accompanying artifacts record actual results and their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UCF frame AUC and UCA temporal overlap need real labels and model outputs. XD AP requires held-out cross-dataset inference. Severity kappa, rho and MAE need human ratings and held-out predictions. 7B/3B and evidence-conditioning ablations require paired model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No facial recognition, identity inference or cross-camera re-identification. No live streaming or automatic external action. Detector misses, ID switches and restricted language coverage remain limitations. Local sessions are not authenticated accounts; public deployment needs a separate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ARGUS implementation review. The sample is synthetic and the severity model is uncalibrated. Research results remain pending.</a:t>
            </a:r>
          </a:p>
          <a:p xmlns:a="http://schemas.openxmlformats.org/drawingml/2006/main">
            <a:r>
              <a:t>Speaker notes: Run start.ps1 and open the local console. Read the project guide for schemas, commands and annotation procedures. Obtain licensed data, run the research adapters and collect independent ratings. Replace pending findings only with results produced by the evaluation scripts.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7712139aac41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ce178b196f4194" /><Relationship Type="http://schemas.openxmlformats.org/officeDocument/2006/relationships/slideLayout" Target="/ppt/slideLayouts/slideLayout1.xml" Id="Rb0d5a083e7164c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d5a083e7164c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22502c7b384fc9" /><Relationship Type="http://schemas.openxmlformats.org/officeDocument/2006/relationships/notesSlide" Target="/ppt/notesSlides/notesSlide1.xml" Id="R807f2de1fd9443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64f85a08ad44f3" /><Relationship Type="http://schemas.openxmlformats.org/officeDocument/2006/relationships/notesSlide" Target="/ppt/notesSlides/notesSlide2.xml" Id="Ra98e707bc82f49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4aebed449745b5" /><Relationship Type="http://schemas.openxmlformats.org/officeDocument/2006/relationships/notesSlide" Target="/ppt/notesSlides/notesSlide3.xml" Id="Rb66ffd7043a04b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cfd1dd20f14973" /><Relationship Type="http://schemas.openxmlformats.org/officeDocument/2006/relationships/notesSlide" Target="/ppt/notesSlides/notesSlide4.xml" Id="R0f939f9c14284e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7f9e4ff5594f2d" /><Relationship Type="http://schemas.openxmlformats.org/officeDocument/2006/relationships/notesSlide" Target="/ppt/notesSlides/notesSlide5.xml" Id="R4001eb2f976141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992f7d38a44bf5" /><Relationship Type="http://schemas.openxmlformats.org/officeDocument/2006/relationships/notesSlide" Target="/ppt/notesSlides/notesSlide6.xml" Id="Rbde80eaa915c41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d576bc32f584dac" /><Relationship Type="http://schemas.openxmlformats.org/officeDocument/2006/relationships/notesSlide" Target="/ppt/notesSlides/notesSlide7.xml" Id="Rf77f99402e7042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878b10eeee4a48" /><Relationship Type="http://schemas.openxmlformats.org/officeDocument/2006/relationships/notesSlide" Target="/ppt/notesSlides/notesSlide8.xml" Id="Rc5475978998e46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107e8f98a14495e" /><Relationship Type="http://schemas.openxmlformats.org/officeDocument/2006/relationships/notesSlide" Target="/ppt/notesSlides/notesSlide9.xml" Id="R8a67ac955b4e4a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e9681c683648d2" /><Relationship Type="http://schemas.openxmlformats.org/officeDocument/2006/relationships/notesSlide" Target="/ppt/notesSlides/notesSlide10.xml" Id="R4e0fa5c3822949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0d25d40a484164" /><Relationship Type="http://schemas.openxmlformats.org/officeDocument/2006/relationships/notesSlide" Target="/ppt/notesSlides/notesSlide11.xml" Id="Rae4b26a7ee2e41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a01c12b77f4da4" /><Relationship Type="http://schemas.openxmlformats.org/officeDocument/2006/relationships/notesSlide" Target="/ppt/notesSlides/notesSlide12.xml" Id="R7e7a4b45939b4d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67a6f44dcee4c0b" /><Relationship Type="http://schemas.openxmlformats.org/officeDocument/2006/relationships/notesSlide" Target="/ppt/notesSlides/notesSlide13.xml" Id="R5b32f423d65f44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b07d8733624b6b" /><Relationship Type="http://schemas.openxmlformats.org/officeDocument/2006/relationships/notesSlide" Target="/ppt/notesSlides/notesSlide14.xml" Id="R15879d32818f4c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d7c9cb791b545e8" /><Relationship Type="http://schemas.openxmlformats.org/officeDocument/2006/relationships/notesSlide" Target="/ppt/notesSlides/notesSlide15.xml" Id="R45c3c8b97a604f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3d040b96e7b4924" /><Relationship Type="http://schemas.openxmlformats.org/officeDocument/2006/relationships/notesSlide" Target="/ppt/notesSlides/notesSlide16.xml" Id="R400d6cc3d8e149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edc09b3be10494f" /><Relationship Type="http://schemas.openxmlformats.org/officeDocument/2006/relationships/chart" Target="/ppt/slides/charts/chart1.xml" Id="R50d8107e8d394624" /><Relationship Type="http://schemas.openxmlformats.org/officeDocument/2006/relationships/notesSlide" Target="/ppt/notesSlides/notesSlide17.xml" Id="R0d388f3dad6d42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8f018eccb3b4ff4" /><Relationship Type="http://schemas.openxmlformats.org/officeDocument/2006/relationships/notesSlide" Target="/ppt/notesSlides/notesSlide18.xml" Id="R4911b0f88dd04c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e62dc530df4f1b" /><Relationship Type="http://schemas.openxmlformats.org/officeDocument/2006/relationships/notesSlide" Target="/ppt/notesSlides/notesSlide19.xml" Id="R31037a8aeeca40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7c84107eb2344c9" /><Relationship Type="http://schemas.openxmlformats.org/officeDocument/2006/relationships/notesSlide" Target="/ppt/notesSlides/notesSlide20.xml" Id="R2fcab22184f443f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Synthetic counts</c:v>
          </c:tx>
          <c:spPr>
            <a:solidFill xmlns:a="http://schemas.openxmlformats.org/drawingml/2006/main">
              <a:srgbClr val="087D90"/>
            </a:solidFill>
          </c:spPr>
          <c:cat>
            <c:strRef>
              <c:f>'Chart Data'!$A$2:$A$4</c:f>
              <c:strCache>
                <c:ptCount val="3"/>
                <c:pt idx="0">
                  <c:v>Claims</c:v>
                </c:pt>
                <c:pt idx="1">
                  <c:v>Rejected</c:v>
                </c:pt>
                <c:pt idx="2">
                  <c:v>Invalid actions stripped</c:v>
                </c:pt>
              </c:strCache>
            </c:strRef>
          </c:cat>
          <c:val>
            <c:numRef>
              <c:f>'Chart Data'!$B$2:$B$4</c:f>
              <c:numCache>
                <c:formatCode>General</c:formatCode>
                <c:ptCount val="3"/>
                <c:pt idx="0">
                  <c:v>15</c:v>
                </c:pt>
                <c:pt idx="1">
                  <c:v>2</c:v>
                </c:pt>
                <c:pt idx="2">
                  <c:v>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101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FEF486-7E84-47FA-9D7B-D3FA4855519A}"/>
              </a:ext>
            </a:extLst>
          </p:cNvPr>
          <p:cNvSpPr>
            <a:spLocks xmlns:a="http://schemas.openxmlformats.org/drawingml/2006/main" noGrp="1"/>
          </p:cNvSpPr>
          <p:nvPr/>
        </p:nvSpPr>
        <p:spPr>
          <a:xfrm xmlns:a="http://schemas.openxmlformats.org/drawingml/2006/main">
            <a:off x="666750" y="952500"/>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E6EDF5"/>
                </a:solidFill>
                <a:latin typeface="Arial"/>
                <a:ea typeface="Arial"/>
                <a:cs typeface="Arial"/>
              </a:defRPr>
            </a:pPr>
            <a:r>
              <a:rPr sz="4650" b="1">
                <a:solidFill>
                  <a:srgbClr val="E6EDF5"/>
                </a:solidFill>
                <a:latin typeface="Arial"/>
                <a:ea typeface="Arial"/>
                <a:cs typeface="Arial"/>
              </a:rPr>
              <a:t>ARGUS CCTV evidence verification</a:t>
            </a:r>
          </a:p>
        </p:txBody>
      </p:sp>
      <p:sp>
        <p:nvSpPr>
          <p:cNvPr id="2" name="">
            <a:extLst xmlns:a="http://schemas.openxmlformats.org/drawingml/2006/main">
              <a:ext uri="{FF2B5EF4-FFF2-40B4-BE49-F238E27FC236}">
                <a16:creationId xmlns:a16="http://schemas.microsoft.com/office/drawing/2014/main" id="{162A6564-472A-468E-A868-15042784C14F}"/>
              </a:ext>
            </a:extLst>
          </p:cNvPr>
          <p:cNvSpPr>
            <a:spLocks xmlns:a="http://schemas.openxmlformats.org/drawingml/2006/main" noGrp="1"/>
          </p:cNvSpPr>
          <p:nvPr/>
        </p:nvSpPr>
        <p:spPr>
          <a:xfrm xmlns:a="http://schemas.openxmlformats.org/drawingml/2006/main">
            <a:off x="685800" y="26670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43D7EB"/>
                </a:solidFill>
                <a:latin typeface="Arial"/>
                <a:ea typeface="Arial"/>
                <a:cs typeface="Arial"/>
              </a:defRPr>
            </a:pPr>
            <a:r>
              <a:rPr sz="2250" b="0">
                <a:solidFill>
                  <a:srgbClr val="43D7EB"/>
                </a:solidFill>
                <a:latin typeface="Arial"/>
                <a:ea typeface="Arial"/>
                <a:cs typeface="Arial"/>
              </a:rPr>
              <a:t>Offline research project review</a:t>
            </a:r>
          </a:p>
        </p:txBody>
      </p:sp>
      <p:sp>
        <p:nvSpPr>
          <p:cNvPr id="3" name="">
            <a:extLst xmlns:a="http://schemas.openxmlformats.org/drawingml/2006/main">
              <a:ext uri="{FF2B5EF4-FFF2-40B4-BE49-F238E27FC236}">
                <a16:creationId xmlns:a16="http://schemas.microsoft.com/office/drawing/2014/main" id="{6C124C8D-CB86-4443-AFD4-36BDAEDCC99F}"/>
              </a:ext>
            </a:extLst>
          </p:cNvPr>
          <p:cNvSpPr>
            <a:spLocks xmlns:a="http://schemas.openxmlformats.org/drawingml/2006/main" noGrp="1"/>
          </p:cNvSpPr>
          <p:nvPr/>
        </p:nvSpPr>
        <p:spPr>
          <a:xfrm xmlns:a="http://schemas.openxmlformats.org/drawingml/2006/main">
            <a:off x="704850" y="3810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5B5C8"/>
                </a:solidFill>
                <a:latin typeface="Arial"/>
                <a:ea typeface="Arial"/>
                <a:cs typeface="Arial"/>
              </a:defRPr>
            </a:pPr>
            <a:r>
              <a:rPr sz="1725" b="0">
                <a:solidFill>
                  <a:srgbClr val="A5B5C8"/>
                </a:solidFill>
                <a:latin typeface="Arial"/>
                <a:ea typeface="Arial"/>
                <a:cs typeface="Arial"/>
              </a:rPr>
              <a:t>Munis Aparji V S, Mithin Sagar S and Janit B</a:t>
            </a:r>
          </a:p>
        </p:txBody>
      </p:sp>
      <p:sp>
        <p:nvSpPr>
          <p:cNvPr id="4" name="">
            <a:extLst xmlns:a="http://schemas.openxmlformats.org/drawingml/2006/main">
              <a:ext uri="{FF2B5EF4-FFF2-40B4-BE49-F238E27FC236}">
                <a16:creationId xmlns:a16="http://schemas.microsoft.com/office/drawing/2014/main" id="{CA68DE34-0B66-489F-B648-EADBE027A591}"/>
              </a:ext>
            </a:extLst>
          </p:cNvPr>
          <p:cNvSpPr>
            <a:spLocks xmlns:a="http://schemas.openxmlformats.org/drawingml/2006/main" noGrp="1"/>
          </p:cNvSpPr>
          <p:nvPr/>
        </p:nvSpPr>
        <p:spPr>
          <a:xfrm xmlns:a="http://schemas.openxmlformats.org/drawingml/2006/main">
            <a:off x="704850" y="4362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5B5C8"/>
                </a:solidFill>
                <a:latin typeface="Arial"/>
                <a:ea typeface="Arial"/>
                <a:cs typeface="Arial"/>
              </a:defRPr>
            </a:pPr>
            <a:r>
              <a:rPr sz="1725" b="0">
                <a:solidFill>
                  <a:srgbClr val="A5B5C8"/>
                </a:solidFill>
                <a:latin typeface="Arial"/>
                <a:ea typeface="Arial"/>
                <a:cs typeface="Arial"/>
              </a:rPr>
              <a:t>Guide: Dr. Premanand V</a:t>
            </a:r>
          </a:p>
        </p:txBody>
      </p:sp>
      <p:sp>
        <p:nvSpPr>
          <p:cNvPr id="5" name="">
            <a:extLst xmlns:a="http://schemas.openxmlformats.org/drawingml/2006/main">
              <a:ext uri="{FF2B5EF4-FFF2-40B4-BE49-F238E27FC236}">
                <a16:creationId xmlns:a16="http://schemas.microsoft.com/office/drawing/2014/main" id="{4FE711FF-30F0-48C0-ABB4-102821DCF14B}"/>
              </a:ext>
            </a:extLst>
          </p:cNvPr>
          <p:cNvSpPr>
            <a:spLocks xmlns:a="http://schemas.openxmlformats.org/drawingml/2006/main" noGrp="1"/>
          </p:cNvSpPr>
          <p:nvPr/>
        </p:nvSpPr>
        <p:spPr>
          <a:xfrm xmlns:a="http://schemas.openxmlformats.org/drawingml/2006/main">
            <a:off x="704850" y="49149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5B5C8"/>
                </a:solidFill>
                <a:latin typeface="Arial"/>
                <a:ea typeface="Arial"/>
                <a:cs typeface="Arial"/>
              </a:defRPr>
            </a:pPr>
            <a:r>
              <a:rPr sz="1725" b="0">
                <a:solidFill>
                  <a:srgbClr val="A5B5C8"/>
                </a:solidFill>
                <a:latin typeface="Arial"/>
                <a:ea typeface="Arial"/>
                <a:cs typeface="Arial"/>
              </a:rPr>
              <a:t>BCSE497J, SCOPE, Vellore Institute of Technology</a:t>
            </a:r>
          </a:p>
        </p:txBody>
      </p:sp>
      <p:sp>
        <p:nvSpPr>
          <p:cNvPr id="6" name="">
            <a:extLst xmlns:a="http://schemas.openxmlformats.org/drawingml/2006/main">
              <a:ext uri="{FF2B5EF4-FFF2-40B4-BE49-F238E27FC236}">
                <a16:creationId xmlns:a16="http://schemas.microsoft.com/office/drawing/2014/main" id="{327712BD-5938-4F09-9210-B80547F01A17}"/>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5B5C8"/>
                </a:solidFill>
                <a:latin typeface="Arial"/>
                <a:ea typeface="Arial"/>
                <a:cs typeface="Arial"/>
              </a:defRPr>
            </a:pPr>
            <a:r>
              <a:rPr sz="1125" b="0">
                <a:solidFill>
                  <a:srgbClr val="A5B5C8"/>
                </a:solidFill>
                <a:latin typeface="Arial"/>
                <a:ea typeface="Arial"/>
                <a:cs typeface="Arial"/>
              </a:rPr>
              <a:t>01 / 20</a:t>
            </a:r>
          </a:p>
        </p:txBody>
      </p:sp>
    </p:spTree>
    <p:extLst>
      <p:ext uri="{BB962C8B-B14F-4D97-AF65-F5344CB8AC3E}">
        <p14:creationId xmlns:p14="http://schemas.microsoft.com/office/powerpoint/2010/main" val="2912336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9B41DF-6FE6-4B40-8487-5C01D70D6C6C}"/>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Domain and problem statement</a:t>
            </a:r>
          </a:p>
        </p:txBody>
      </p:sp>
      <p:sp>
        <p:nvSpPr>
          <p:cNvPr id="2" name="">
            <a:extLst xmlns:a="http://schemas.openxmlformats.org/drawingml/2006/main">
              <a:ext uri="{FF2B5EF4-FFF2-40B4-BE49-F238E27FC236}">
                <a16:creationId xmlns:a16="http://schemas.microsoft.com/office/drawing/2014/main" id="{D29777C5-7B4D-4DE8-AE00-1A5A2E27A23D}"/>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What an operator needs to review</a:t>
            </a:r>
          </a:p>
        </p:txBody>
      </p:sp>
      <p:sp>
        <p:nvSpPr>
          <p:cNvPr id="3" name="">
            <a:extLst xmlns:a="http://schemas.openxmlformats.org/drawingml/2006/main">
              <a:ext uri="{FF2B5EF4-FFF2-40B4-BE49-F238E27FC236}">
                <a16:creationId xmlns:a16="http://schemas.microsoft.com/office/drawing/2014/main" id="{8B722CE8-7C98-4936-86FF-7AEC77E6D09A}"/>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An anomaly score locates a candidate interval but does not explain it.</a:t>
            </a:r>
          </a:p>
        </p:txBody>
      </p:sp>
      <p:sp>
        <p:nvSpPr>
          <p:cNvPr id="4" name="">
            <a:extLst xmlns:a="http://schemas.openxmlformats.org/drawingml/2006/main">
              <a:ext uri="{FF2B5EF4-FFF2-40B4-BE49-F238E27FC236}">
                <a16:creationId xmlns:a16="http://schemas.microsoft.com/office/drawing/2014/main" id="{964F17BC-60F3-4427-8D8D-B4153858B63C}"/>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Generated descriptions can introduce unsupported objects or intent.</a:t>
            </a:r>
          </a:p>
        </p:txBody>
      </p:sp>
      <p:sp>
        <p:nvSpPr>
          <p:cNvPr id="5" name="">
            <a:extLst xmlns:a="http://schemas.openxmlformats.org/drawingml/2006/main">
              <a:ext uri="{FF2B5EF4-FFF2-40B4-BE49-F238E27FC236}">
                <a16:creationId xmlns:a16="http://schemas.microsoft.com/office/drawing/2014/main" id="{E504C7CC-8F5C-4051-BC1C-E23B575ADC02}"/>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ARGUS records claims, independent evidence and review decisions.</a:t>
            </a:r>
          </a:p>
        </p:txBody>
      </p:sp>
      <p:sp>
        <p:nvSpPr>
          <p:cNvPr id="6" name="">
            <a:extLst xmlns:a="http://schemas.openxmlformats.org/drawingml/2006/main">
              <a:ext uri="{FF2B5EF4-FFF2-40B4-BE49-F238E27FC236}">
                <a16:creationId xmlns:a16="http://schemas.microsoft.com/office/drawing/2014/main" id="{6AB428D3-A169-4B08-BAB3-B0D20894DAF5}"/>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02 / 20</a:t>
            </a:r>
          </a:p>
        </p:txBody>
      </p:sp>
    </p:spTree>
    <p:extLst>
      <p:ext uri="{BB962C8B-B14F-4D97-AF65-F5344CB8AC3E}">
        <p14:creationId xmlns:p14="http://schemas.microsoft.com/office/powerpoint/2010/main" val="2210895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F1317B-B464-4F8C-A6B6-666B62615298}"/>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Four research questions</a:t>
            </a:r>
          </a:p>
        </p:txBody>
      </p:sp>
      <p:sp>
        <p:nvSpPr>
          <p:cNvPr id="2" name="">
            <a:extLst xmlns:a="http://schemas.openxmlformats.org/drawingml/2006/main">
              <a:ext uri="{FF2B5EF4-FFF2-40B4-BE49-F238E27FC236}">
                <a16:creationId xmlns:a16="http://schemas.microsoft.com/office/drawing/2014/main" id="{B5103BE9-2A5F-466D-AE57-15890934C734}"/>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Detection, verification, calibration and response</a:t>
            </a:r>
          </a:p>
        </p:txBody>
      </p:sp>
      <p:sp>
        <p:nvSpPr>
          <p:cNvPr id="3" name="">
            <a:extLst xmlns:a="http://schemas.openxmlformats.org/drawingml/2006/main">
              <a:ext uri="{FF2B5EF4-FFF2-40B4-BE49-F238E27FC236}">
                <a16:creationId xmlns:a16="http://schemas.microsoft.com/office/drawing/2014/main" id="{559C48FA-8B15-4D39-A5A7-3E47580AC5A5}"/>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P1: How can a candidate anomaly window be explained?</a:t>
            </a:r>
          </a:p>
        </p:txBody>
      </p:sp>
      <p:sp>
        <p:nvSpPr>
          <p:cNvPr id="4" name="">
            <a:extLst xmlns:a="http://schemas.openxmlformats.org/drawingml/2006/main">
              <a:ext uri="{FF2B5EF4-FFF2-40B4-BE49-F238E27FC236}">
                <a16:creationId xmlns:a16="http://schemas.microsoft.com/office/drawing/2014/main" id="{40E150E7-A6A0-4246-9A93-6F0BBC78C51A}"/>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P2: Which generated claims have supporting evidence?</a:t>
            </a:r>
          </a:p>
        </p:txBody>
      </p:sp>
      <p:sp>
        <p:nvSpPr>
          <p:cNvPr id="5" name="">
            <a:extLst xmlns:a="http://schemas.openxmlformats.org/drawingml/2006/main">
              <a:ext uri="{FF2B5EF4-FFF2-40B4-BE49-F238E27FC236}">
                <a16:creationId xmlns:a16="http://schemas.microsoft.com/office/drawing/2014/main" id="{CEBC4549-3443-485F-9667-E62EFD1761A3}"/>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P3: How well do interpretable severity factors agree with humans?</a:t>
            </a:r>
          </a:p>
        </p:txBody>
      </p:sp>
      <p:sp>
        <p:nvSpPr>
          <p:cNvPr id="6" name="">
            <a:extLst xmlns:a="http://schemas.openxmlformats.org/drawingml/2006/main">
              <a:ext uri="{FF2B5EF4-FFF2-40B4-BE49-F238E27FC236}">
                <a16:creationId xmlns:a16="http://schemas.microsoft.com/office/drawing/2014/main" id="{469ECFCC-53FE-4AC5-AF14-4E0FF1FC20F5}"/>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P4: Can every recommendation remain inside a closed vocabulary?</a:t>
            </a:r>
          </a:p>
        </p:txBody>
      </p:sp>
      <p:sp>
        <p:nvSpPr>
          <p:cNvPr id="7" name="">
            <a:extLst xmlns:a="http://schemas.openxmlformats.org/drawingml/2006/main">
              <a:ext uri="{FF2B5EF4-FFF2-40B4-BE49-F238E27FC236}">
                <a16:creationId xmlns:a16="http://schemas.microsoft.com/office/drawing/2014/main" id="{802EF76F-AED2-411B-B0F8-19E7A02458F5}"/>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03 / 20</a:t>
            </a:r>
          </a:p>
        </p:txBody>
      </p:sp>
    </p:spTree>
    <p:extLst>
      <p:ext uri="{BB962C8B-B14F-4D97-AF65-F5344CB8AC3E}">
        <p14:creationId xmlns:p14="http://schemas.microsoft.com/office/powerpoint/2010/main" val="10097649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22E574-7860-4DF6-BD00-8A3C92FBA292}"/>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Literature foundations</a:t>
            </a:r>
          </a:p>
        </p:txBody>
      </p:sp>
      <p:sp>
        <p:nvSpPr>
          <p:cNvPr id="2" name="">
            <a:extLst xmlns:a="http://schemas.openxmlformats.org/drawingml/2006/main">
              <a:ext uri="{FF2B5EF4-FFF2-40B4-BE49-F238E27FC236}">
                <a16:creationId xmlns:a16="http://schemas.microsoft.com/office/drawing/2014/main" id="{3CB5BC88-6D84-48C4-ACCD-206466C2C1E0}"/>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The project builds on established research</a:t>
            </a:r>
          </a:p>
        </p:txBody>
      </p:sp>
      <p:sp>
        <p:nvSpPr>
          <p:cNvPr id="3" name="">
            <a:extLst xmlns:a="http://schemas.openxmlformats.org/drawingml/2006/main">
              <a:ext uri="{FF2B5EF4-FFF2-40B4-BE49-F238E27FC236}">
                <a16:creationId xmlns:a16="http://schemas.microsoft.com/office/drawing/2014/main" id="{52B6FB0E-1CA2-4A31-B4C1-D3CE593E17C5}"/>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Surveillance video-language understanding defines the task family.</a:t>
            </a:r>
          </a:p>
        </p:txBody>
      </p:sp>
      <p:sp>
        <p:nvSpPr>
          <p:cNvPr id="4" name="">
            <a:extLst xmlns:a="http://schemas.openxmlformats.org/drawingml/2006/main">
              <a:ext uri="{FF2B5EF4-FFF2-40B4-BE49-F238E27FC236}">
                <a16:creationId xmlns:a16="http://schemas.microsoft.com/office/drawing/2014/main" id="{B1EE4400-4961-466C-ABFD-DE6E4688B7FF}"/>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PEL4VAD supplies a reproducible weak-supervision comparator.</a:t>
            </a:r>
          </a:p>
        </p:txBody>
      </p:sp>
      <p:sp>
        <p:nvSpPr>
          <p:cNvPr id="5" name="">
            <a:extLst xmlns:a="http://schemas.openxmlformats.org/drawingml/2006/main">
              <a:ext uri="{FF2B5EF4-FFF2-40B4-BE49-F238E27FC236}">
                <a16:creationId xmlns:a16="http://schemas.microsoft.com/office/drawing/2014/main" id="{47C8C1E7-48EF-46E7-98FA-8D7AE7860924}"/>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Video Violence Rating establishes a precedent for graded severity.</a:t>
            </a:r>
          </a:p>
        </p:txBody>
      </p:sp>
      <p:sp>
        <p:nvSpPr>
          <p:cNvPr id="6" name="">
            <a:extLst xmlns:a="http://schemas.openxmlformats.org/drawingml/2006/main">
              <a:ext uri="{FF2B5EF4-FFF2-40B4-BE49-F238E27FC236}">
                <a16:creationId xmlns:a16="http://schemas.microsoft.com/office/drawing/2014/main" id="{C9211300-7925-49EA-9C66-FC0207F4EDF9}"/>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StrongSORT provides context for tracking quality and association.</a:t>
            </a:r>
          </a:p>
        </p:txBody>
      </p:sp>
      <p:sp>
        <p:nvSpPr>
          <p:cNvPr id="7" name="">
            <a:extLst xmlns:a="http://schemas.openxmlformats.org/drawingml/2006/main">
              <a:ext uri="{FF2B5EF4-FFF2-40B4-BE49-F238E27FC236}">
                <a16:creationId xmlns:a16="http://schemas.microsoft.com/office/drawing/2014/main" id="{24A7529C-10F6-4DF8-BFAB-32B8E1938148}"/>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04 / 20</a:t>
            </a:r>
          </a:p>
        </p:txBody>
      </p:sp>
    </p:spTree>
    <p:extLst>
      <p:ext uri="{BB962C8B-B14F-4D97-AF65-F5344CB8AC3E}">
        <p14:creationId xmlns:p14="http://schemas.microsoft.com/office/powerpoint/2010/main" val="4599458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808461-785E-4976-8D03-686F2BE78B27}"/>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Literature and design choices</a:t>
            </a:r>
          </a:p>
        </p:txBody>
      </p:sp>
      <p:sp>
        <p:nvSpPr>
          <p:cNvPr id="2" name="">
            <a:extLst xmlns:a="http://schemas.openxmlformats.org/drawingml/2006/main">
              <a:ext uri="{FF2B5EF4-FFF2-40B4-BE49-F238E27FC236}">
                <a16:creationId xmlns:a16="http://schemas.microsoft.com/office/drawing/2014/main" id="{8A4A8DF6-0EFD-4C02-9CB2-A5AE21A1CC34}"/>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Fifteen journal DOI records verified through Crossref</a:t>
            </a:r>
          </a:p>
        </p:txBody>
      </p:sp>
      <p:sp>
        <p:nvSpPr>
          <p:cNvPr id="3" name="">
            <a:extLst xmlns:a="http://schemas.openxmlformats.org/drawingml/2006/main">
              <a:ext uri="{FF2B5EF4-FFF2-40B4-BE49-F238E27FC236}">
                <a16:creationId xmlns:a16="http://schemas.microsoft.com/office/drawing/2014/main" id="{4C3F9A2B-2221-4C31-9D58-033DA23B6C22}"/>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Normalization and snippet attention inform the detector design.</a:t>
            </a:r>
          </a:p>
        </p:txBody>
      </p:sp>
      <p:sp>
        <p:nvSpPr>
          <p:cNvPr id="4" name="">
            <a:extLst xmlns:a="http://schemas.openxmlformats.org/drawingml/2006/main">
              <a:ext uri="{FF2B5EF4-FFF2-40B4-BE49-F238E27FC236}">
                <a16:creationId xmlns:a16="http://schemas.microsoft.com/office/drawing/2014/main" id="{8D7134DF-D4DD-43CD-BCFD-2B491783C7AB}"/>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Temporal, graph and feature-modeling work expands the comparison set.</a:t>
            </a:r>
          </a:p>
        </p:txBody>
      </p:sp>
      <p:sp>
        <p:nvSpPr>
          <p:cNvPr id="5" name="">
            <a:extLst xmlns:a="http://schemas.openxmlformats.org/drawingml/2006/main">
              <a:ext uri="{FF2B5EF4-FFF2-40B4-BE49-F238E27FC236}">
                <a16:creationId xmlns:a16="http://schemas.microsoft.com/office/drawing/2014/main" id="{221B6C12-996B-4714-AB57-DA7F0D522C72}"/>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Language-guided detection already exists. ARGUS does not claim it as novel.</a:t>
            </a:r>
          </a:p>
        </p:txBody>
      </p:sp>
      <p:sp>
        <p:nvSpPr>
          <p:cNvPr id="6" name="">
            <a:extLst xmlns:a="http://schemas.openxmlformats.org/drawingml/2006/main">
              <a:ext uri="{FF2B5EF4-FFF2-40B4-BE49-F238E27FC236}">
                <a16:creationId xmlns:a16="http://schemas.microsoft.com/office/drawing/2014/main" id="{E962BEB5-84DE-44E8-9C49-ADF4C6A056F5}"/>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Metadata verification supports attribution; full-text replication remains separate.</a:t>
            </a:r>
          </a:p>
        </p:txBody>
      </p:sp>
      <p:sp>
        <p:nvSpPr>
          <p:cNvPr id="7" name="">
            <a:extLst xmlns:a="http://schemas.openxmlformats.org/drawingml/2006/main">
              <a:ext uri="{FF2B5EF4-FFF2-40B4-BE49-F238E27FC236}">
                <a16:creationId xmlns:a16="http://schemas.microsoft.com/office/drawing/2014/main" id="{FAFD193D-CBBA-4A40-876D-2A67EFDB4F9B}"/>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05 / 20</a:t>
            </a:r>
          </a:p>
        </p:txBody>
      </p:sp>
    </p:spTree>
    <p:extLst>
      <p:ext uri="{BB962C8B-B14F-4D97-AF65-F5344CB8AC3E}">
        <p14:creationId xmlns:p14="http://schemas.microsoft.com/office/powerpoint/2010/main" val="15271841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006996-21E5-4296-9A54-006FC8645D9B}"/>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FCB45249-1A04-4DF9-8440-B6DD635C7928}"/>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One versioned record connects seven bounded modules</a:t>
            </a:r>
          </a:p>
        </p:txBody>
      </p:sp>
      <p:sp>
        <p:nvSpPr>
          <p:cNvPr id="3" name="">
            <a:extLst xmlns:a="http://schemas.openxmlformats.org/drawingml/2006/main">
              <a:ext uri="{FF2B5EF4-FFF2-40B4-BE49-F238E27FC236}">
                <a16:creationId xmlns:a16="http://schemas.microsoft.com/office/drawing/2014/main" id="{B5AAE7E5-83DE-418D-A3DA-7ACC7B83F90E}"/>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M1 features, M2 temporal detection and M3 independent evidence</a:t>
            </a:r>
          </a:p>
        </p:txBody>
      </p:sp>
      <p:sp>
        <p:nvSpPr>
          <p:cNvPr id="4" name="">
            <a:extLst xmlns:a="http://schemas.openxmlformats.org/drawingml/2006/main">
              <a:ext uri="{FF2B5EF4-FFF2-40B4-BE49-F238E27FC236}">
                <a16:creationId xmlns:a16="http://schemas.microsoft.com/office/drawing/2014/main" id="{F9E4A55F-51E0-4817-B6DE-06BFA6B571A2}"/>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M4 structured language and M5 conservative verification</a:t>
            </a:r>
          </a:p>
        </p:txBody>
      </p:sp>
      <p:sp>
        <p:nvSpPr>
          <p:cNvPr id="5" name="">
            <a:extLst xmlns:a="http://schemas.openxmlformats.org/drawingml/2006/main">
              <a:ext uri="{FF2B5EF4-FFF2-40B4-BE49-F238E27FC236}">
                <a16:creationId xmlns:a16="http://schemas.microsoft.com/office/drawing/2014/main" id="{0C8CB652-0DB5-42DD-BD10-3AF451862083}"/>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M6 inspectable severity and M7 validated recommendations</a:t>
            </a:r>
          </a:p>
        </p:txBody>
      </p:sp>
      <p:sp>
        <p:nvSpPr>
          <p:cNvPr id="6" name="">
            <a:extLst xmlns:a="http://schemas.openxmlformats.org/drawingml/2006/main">
              <a:ext uri="{FF2B5EF4-FFF2-40B4-BE49-F238E27FC236}">
                <a16:creationId xmlns:a16="http://schemas.microsoft.com/office/drawing/2014/main" id="{FCD6F9ED-08B7-4F44-937B-0E3F1EA3772C}"/>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The automatic terminal state awaits a human decision.</a:t>
            </a:r>
          </a:p>
        </p:txBody>
      </p:sp>
      <p:sp>
        <p:nvSpPr>
          <p:cNvPr id="7" name="">
            <a:extLst xmlns:a="http://schemas.openxmlformats.org/drawingml/2006/main">
              <a:ext uri="{FF2B5EF4-FFF2-40B4-BE49-F238E27FC236}">
                <a16:creationId xmlns:a16="http://schemas.microsoft.com/office/drawing/2014/main" id="{43E5F7B3-FB7C-44C0-B841-CF0F29BB9D32}"/>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06 / 20</a:t>
            </a:r>
          </a:p>
        </p:txBody>
      </p:sp>
    </p:spTree>
    <p:extLst>
      <p:ext uri="{BB962C8B-B14F-4D97-AF65-F5344CB8AC3E}">
        <p14:creationId xmlns:p14="http://schemas.microsoft.com/office/powerpoint/2010/main" val="15927335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7B39D2-C882-411E-A12B-6F442A170B11}"/>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Data plan</a:t>
            </a:r>
          </a:p>
        </p:txBody>
      </p:sp>
      <p:sp>
        <p:nvSpPr>
          <p:cNvPr id="2" name="">
            <a:extLst xmlns:a="http://schemas.openxmlformats.org/drawingml/2006/main">
              <a:ext uri="{FF2B5EF4-FFF2-40B4-BE49-F238E27FC236}">
                <a16:creationId xmlns:a16="http://schemas.microsoft.com/office/drawing/2014/main" id="{3E36C672-2F77-45A1-81DE-A9CBD93B37B6}"/>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Each dataset has a distinct role</a:t>
            </a:r>
          </a:p>
        </p:txBody>
      </p:sp>
      <p:sp>
        <p:nvSpPr>
          <p:cNvPr id="3" name="">
            <a:extLst xmlns:a="http://schemas.openxmlformats.org/drawingml/2006/main">
              <a:ext uri="{FF2B5EF4-FFF2-40B4-BE49-F238E27FC236}">
                <a16:creationId xmlns:a16="http://schemas.microsoft.com/office/drawing/2014/main" id="{FEC11C03-3362-427D-83ED-0615570E772E}"/>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UCF-Crime: WHEN, using weak video labels and pre-released features.</a:t>
            </a:r>
          </a:p>
        </p:txBody>
      </p:sp>
      <p:sp>
        <p:nvSpPr>
          <p:cNvPr id="4" name="">
            <a:extLst xmlns:a="http://schemas.openxmlformats.org/drawingml/2006/main">
              <a:ext uri="{FF2B5EF4-FFF2-40B4-BE49-F238E27FC236}">
                <a16:creationId xmlns:a16="http://schemas.microsoft.com/office/drawing/2014/main" id="{71E6ED36-8C90-4B89-85A1-6141E4890326}"/>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UCA: WHAT TO SAY, for temporal language alignment.</a:t>
            </a:r>
          </a:p>
        </p:txBody>
      </p:sp>
      <p:sp>
        <p:nvSpPr>
          <p:cNvPr id="5" name="">
            <a:extLst xmlns:a="http://schemas.openxmlformats.org/drawingml/2006/main">
              <a:ext uri="{FF2B5EF4-FFF2-40B4-BE49-F238E27FC236}">
                <a16:creationId xmlns:a16="http://schemas.microsoft.com/office/drawing/2014/main" id="{155FD635-195D-4FCE-B3C5-A00F0CC30F10}"/>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XD-Violence: GENERALISE, held out and evaluated with AP.</a:t>
            </a:r>
          </a:p>
        </p:txBody>
      </p:sp>
      <p:sp>
        <p:nvSpPr>
          <p:cNvPr id="6" name="">
            <a:extLst xmlns:a="http://schemas.openxmlformats.org/drawingml/2006/main">
              <a:ext uri="{FF2B5EF4-FFF2-40B4-BE49-F238E27FC236}">
                <a16:creationId xmlns:a16="http://schemas.microsoft.com/office/drawing/2014/main" id="{0196F418-8C2A-43B5-B8B2-659E13671831}"/>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SIRB: HOW SERIOUS AND DO WHAT, requiring new human annotations.</a:t>
            </a:r>
          </a:p>
        </p:txBody>
      </p:sp>
      <p:sp>
        <p:nvSpPr>
          <p:cNvPr id="7" name="">
            <a:extLst xmlns:a="http://schemas.openxmlformats.org/drawingml/2006/main">
              <a:ext uri="{FF2B5EF4-FFF2-40B4-BE49-F238E27FC236}">
                <a16:creationId xmlns:a16="http://schemas.microsoft.com/office/drawing/2014/main" id="{35A68DE1-FE01-40F5-9B2B-4F1F78A79C37}"/>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07 / 20</a:t>
            </a:r>
          </a:p>
        </p:txBody>
      </p:sp>
    </p:spTree>
    <p:extLst>
      <p:ext uri="{BB962C8B-B14F-4D97-AF65-F5344CB8AC3E}">
        <p14:creationId xmlns:p14="http://schemas.microsoft.com/office/powerpoint/2010/main" val="114038721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142EDC-B99B-426F-B6DA-977B703BBA55}"/>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The offline demonstration</a:t>
            </a:r>
          </a:p>
        </p:txBody>
      </p:sp>
      <p:sp>
        <p:nvSpPr>
          <p:cNvPr id="2" name="">
            <a:extLst xmlns:a="http://schemas.openxmlformats.org/drawingml/2006/main">
              <a:ext uri="{FF2B5EF4-FFF2-40B4-BE49-F238E27FC236}">
                <a16:creationId xmlns:a16="http://schemas.microsoft.com/office/drawing/2014/main" id="{381397BF-6119-4FB1-9567-3626D5C558CB}"/>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Original synthetic scenes exercise the complete workflow</a:t>
            </a:r>
          </a:p>
        </p:txBody>
      </p:sp>
      <p:sp>
        <p:nvSpPr>
          <p:cNvPr id="3" name="">
            <a:extLst xmlns:a="http://schemas.openxmlformats.org/drawingml/2006/main">
              <a:ext uri="{FF2B5EF4-FFF2-40B4-BE49-F238E27FC236}">
                <a16:creationId xmlns:a16="http://schemas.microsoft.com/office/drawing/2014/main" id="{D4E6BDD6-621F-4995-9898-48F52BA77B6D}"/>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Eight generated clips contain coloured person, bag and vehicle sprites.</a:t>
            </a:r>
          </a:p>
        </p:txBody>
      </p:sp>
      <p:sp>
        <p:nvSpPr>
          <p:cNvPr id="4" name="">
            <a:extLst xmlns:a="http://schemas.openxmlformats.org/drawingml/2006/main">
              <a:ext uri="{FF2B5EF4-FFF2-40B4-BE49-F238E27FC236}">
                <a16:creationId xmlns:a16="http://schemas.microsoft.com/office/drawing/2014/main" id="{FA3A5CAB-7663-49FF-9B21-978B706C8B6C}"/>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Pixel segmentation and geometric tracking produce actual sample evidence.</a:t>
            </a:r>
          </a:p>
        </p:txBody>
      </p:sp>
      <p:sp>
        <p:nvSpPr>
          <p:cNvPr id="5" name="">
            <a:extLst xmlns:a="http://schemas.openxmlformats.org/drawingml/2006/main">
              <a:ext uri="{FF2B5EF4-FFF2-40B4-BE49-F238E27FC236}">
                <a16:creationId xmlns:a16="http://schemas.microsoft.com/office/drawing/2014/main" id="{1755F16E-BA4D-49BD-9FCD-988511B6318F}"/>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 motion baseline and authored language cache keep the demo independent of GPUs.</a:t>
            </a:r>
          </a:p>
        </p:txBody>
      </p:sp>
      <p:sp>
        <p:nvSpPr>
          <p:cNvPr id="6" name="">
            <a:extLst xmlns:a="http://schemas.openxmlformats.org/drawingml/2006/main">
              <a:ext uri="{FF2B5EF4-FFF2-40B4-BE49-F238E27FC236}">
                <a16:creationId xmlns:a16="http://schemas.microsoft.com/office/drawing/2014/main" id="{68BF28D3-D3FA-414E-B5A8-919F8BBF13B7}"/>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Sample labels and reference severity are explicitly identified.</a:t>
            </a:r>
          </a:p>
        </p:txBody>
      </p:sp>
      <p:sp>
        <p:nvSpPr>
          <p:cNvPr id="7" name="">
            <a:extLst xmlns:a="http://schemas.openxmlformats.org/drawingml/2006/main">
              <a:ext uri="{FF2B5EF4-FFF2-40B4-BE49-F238E27FC236}">
                <a16:creationId xmlns:a16="http://schemas.microsoft.com/office/drawing/2014/main" id="{6F9491B9-CE47-4107-BFF6-1EB87063049C}"/>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08 / 20</a:t>
            </a:r>
          </a:p>
        </p:txBody>
      </p:sp>
    </p:spTree>
    <p:extLst>
      <p:ext uri="{BB962C8B-B14F-4D97-AF65-F5344CB8AC3E}">
        <p14:creationId xmlns:p14="http://schemas.microsoft.com/office/powerpoint/2010/main" val="4525923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8672C7-9DB2-4D1B-A617-0AD662EDBA61}"/>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Feature cache and temporal detector</a:t>
            </a:r>
          </a:p>
        </p:txBody>
      </p:sp>
      <p:sp>
        <p:nvSpPr>
          <p:cNvPr id="2" name="">
            <a:extLst xmlns:a="http://schemas.openxmlformats.org/drawingml/2006/main">
              <a:ext uri="{FF2B5EF4-FFF2-40B4-BE49-F238E27FC236}">
                <a16:creationId xmlns:a16="http://schemas.microsoft.com/office/drawing/2014/main" id="{69AED143-6D96-4E45-9835-EDC3236C222C}"/>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Frozen research features feed a trainable transformer</a:t>
            </a:r>
          </a:p>
        </p:txBody>
      </p:sp>
      <p:sp>
        <p:nvSpPr>
          <p:cNvPr id="3" name="">
            <a:extLst xmlns:a="http://schemas.openxmlformats.org/drawingml/2006/main">
              <a:ext uri="{FF2B5EF4-FFF2-40B4-BE49-F238E27FC236}">
                <a16:creationId xmlns:a16="http://schemas.microsoft.com/office/drawing/2014/main" id="{99158FCD-60D6-4D57-B2B8-6BFF22FAB432}"/>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Resample to 25 fps and aggregate 16-frame snippets, each spanning 0.64 seconds.</a:t>
            </a:r>
          </a:p>
        </p:txBody>
      </p:sp>
      <p:sp>
        <p:nvSpPr>
          <p:cNvPr id="4" name="">
            <a:extLst xmlns:a="http://schemas.openxmlformats.org/drawingml/2006/main">
              <a:ext uri="{FF2B5EF4-FFF2-40B4-BE49-F238E27FC236}">
                <a16:creationId xmlns:a16="http://schemas.microsoft.com/office/drawing/2014/main" id="{31517CD5-AFBE-42FB-BD90-AEF7A38A2C5C}"/>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Four temporal transformer layers use LayerNorm and positional encoding.</a:t>
            </a:r>
          </a:p>
        </p:txBody>
      </p:sp>
      <p:sp>
        <p:nvSpPr>
          <p:cNvPr id="5" name="">
            <a:extLst xmlns:a="http://schemas.openxmlformats.org/drawingml/2006/main">
              <a:ext uri="{FF2B5EF4-FFF2-40B4-BE49-F238E27FC236}">
                <a16:creationId xmlns:a16="http://schemas.microsoft.com/office/drawing/2014/main" id="{517BB2AD-99A8-488B-AF4B-EBF6C491D20C}"/>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MIL top-k pooling, attention and erasing losses train from video-level labels.</a:t>
            </a:r>
          </a:p>
        </p:txBody>
      </p:sp>
      <p:sp>
        <p:nvSpPr>
          <p:cNvPr id="6" name="">
            <a:extLst xmlns:a="http://schemas.openxmlformats.org/drawingml/2006/main">
              <a:ext uri="{FF2B5EF4-FFF2-40B4-BE49-F238E27FC236}">
                <a16:creationId xmlns:a16="http://schemas.microsoft.com/office/drawing/2014/main" id="{C8949A58-650B-47DA-B6DD-426D698D670A}"/>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Independent validation selects checkpoints; test labels remain held out.</a:t>
            </a:r>
          </a:p>
        </p:txBody>
      </p:sp>
      <p:sp>
        <p:nvSpPr>
          <p:cNvPr id="7" name="">
            <a:extLst xmlns:a="http://schemas.openxmlformats.org/drawingml/2006/main">
              <a:ext uri="{FF2B5EF4-FFF2-40B4-BE49-F238E27FC236}">
                <a16:creationId xmlns:a16="http://schemas.microsoft.com/office/drawing/2014/main" id="{6C4BB40B-FF97-4985-A648-2A31CBB89F29}"/>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09 / 20</a:t>
            </a:r>
          </a:p>
        </p:txBody>
      </p:sp>
    </p:spTree>
    <p:extLst>
      <p:ext uri="{BB962C8B-B14F-4D97-AF65-F5344CB8AC3E}">
        <p14:creationId xmlns:p14="http://schemas.microsoft.com/office/powerpoint/2010/main" val="6823339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D54A5B-A929-49B2-957C-8034A63B53A7}"/>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Independent evidence extraction</a:t>
            </a:r>
          </a:p>
        </p:txBody>
      </p:sp>
      <p:sp>
        <p:nvSpPr>
          <p:cNvPr id="2" name="">
            <a:extLst xmlns:a="http://schemas.openxmlformats.org/drawingml/2006/main">
              <a:ext uri="{FF2B5EF4-FFF2-40B4-BE49-F238E27FC236}">
                <a16:creationId xmlns:a16="http://schemas.microsoft.com/office/drawing/2014/main" id="{F4B4E5BC-F05B-40B2-9A36-6B60E1ED97F8}"/>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Object evidence is separate from language generation</a:t>
            </a:r>
          </a:p>
        </p:txBody>
      </p:sp>
      <p:sp>
        <p:nvSpPr>
          <p:cNvPr id="3" name="">
            <a:extLst xmlns:a="http://schemas.openxmlformats.org/drawingml/2006/main">
              <a:ext uri="{FF2B5EF4-FFF2-40B4-BE49-F238E27FC236}">
                <a16:creationId xmlns:a16="http://schemas.microsoft.com/office/drawing/2014/main" id="{36F16EF2-F1A8-4F12-97BB-4484EC7170CB}"/>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 frozen DETR adapter supports research clips.</a:t>
            </a:r>
          </a:p>
        </p:txBody>
      </p:sp>
      <p:sp>
        <p:nvSpPr>
          <p:cNvPr id="4" name="">
            <a:extLst xmlns:a="http://schemas.openxmlformats.org/drawingml/2006/main">
              <a:ext uri="{FF2B5EF4-FFF2-40B4-BE49-F238E27FC236}">
                <a16:creationId xmlns:a16="http://schemas.microsoft.com/office/drawing/2014/main" id="{D49B39A2-D614-4D20-851F-F21FD279E264}"/>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 geometric IoU tracker uses clip-local IDs without biometric embeddings.</a:t>
            </a:r>
          </a:p>
        </p:txBody>
      </p:sp>
      <p:sp>
        <p:nvSpPr>
          <p:cNvPr id="5" name="">
            <a:extLst xmlns:a="http://schemas.openxmlformats.org/drawingml/2006/main">
              <a:ext uri="{FF2B5EF4-FFF2-40B4-BE49-F238E27FC236}">
                <a16:creationId xmlns:a16="http://schemas.microsoft.com/office/drawing/2014/main" id="{D9FAC3EA-CCCB-46F9-8637-94EE491055F2}"/>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Counts use simultaneous detections rather than fragmented track totals.</a:t>
            </a:r>
          </a:p>
        </p:txBody>
      </p:sp>
      <p:sp>
        <p:nvSpPr>
          <p:cNvPr id="6" name="">
            <a:extLst xmlns:a="http://schemas.openxmlformats.org/drawingml/2006/main">
              <a:ext uri="{FF2B5EF4-FFF2-40B4-BE49-F238E27FC236}">
                <a16:creationId xmlns:a16="http://schemas.microsoft.com/office/drawing/2014/main" id="{1221FA3D-A445-48A9-B702-D9EF7A289C28}"/>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Keyframes combine detection density and motion with temporal spacing.</a:t>
            </a:r>
          </a:p>
        </p:txBody>
      </p:sp>
      <p:sp>
        <p:nvSpPr>
          <p:cNvPr id="7" name="">
            <a:extLst xmlns:a="http://schemas.openxmlformats.org/drawingml/2006/main">
              <a:ext uri="{FF2B5EF4-FFF2-40B4-BE49-F238E27FC236}">
                <a16:creationId xmlns:a16="http://schemas.microsoft.com/office/drawing/2014/main" id="{8EC0A435-E6B0-4082-BFBE-0D4D3866C1DD}"/>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10 / 20</a:t>
            </a:r>
          </a:p>
        </p:txBody>
      </p:sp>
    </p:spTree>
    <p:extLst>
      <p:ext uri="{BB962C8B-B14F-4D97-AF65-F5344CB8AC3E}">
        <p14:creationId xmlns:p14="http://schemas.microsoft.com/office/powerpoint/2010/main" val="3802128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4BDC7-928F-4670-970B-58BB06ACA816}"/>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Structured language and cache</a:t>
            </a:r>
          </a:p>
        </p:txBody>
      </p:sp>
      <p:sp>
        <p:nvSpPr>
          <p:cNvPr id="2" name="">
            <a:extLst xmlns:a="http://schemas.openxmlformats.org/drawingml/2006/main">
              <a:ext uri="{FF2B5EF4-FFF2-40B4-BE49-F238E27FC236}">
                <a16:creationId xmlns:a16="http://schemas.microsoft.com/office/drawing/2014/main" id="{A7407966-93B9-4006-AF32-76B1A3188B33}"/>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The VLM has no severity or response fields</a:t>
            </a:r>
          </a:p>
        </p:txBody>
      </p:sp>
      <p:sp>
        <p:nvSpPr>
          <p:cNvPr id="3" name="">
            <a:extLst xmlns:a="http://schemas.openxmlformats.org/drawingml/2006/main">
              <a:ext uri="{FF2B5EF4-FFF2-40B4-BE49-F238E27FC236}">
                <a16:creationId xmlns:a16="http://schemas.microsoft.com/office/drawing/2014/main" id="{0E7793CC-0309-4D98-9EAF-22D779C19F8F}"/>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The optional Qwen batch constrains output to the claim JSON schema.</a:t>
            </a:r>
          </a:p>
        </p:txBody>
      </p:sp>
      <p:sp>
        <p:nvSpPr>
          <p:cNvPr id="4" name="">
            <a:extLst xmlns:a="http://schemas.openxmlformats.org/drawingml/2006/main">
              <a:ext uri="{FF2B5EF4-FFF2-40B4-BE49-F238E27FC236}">
                <a16:creationId xmlns:a16="http://schemas.microsoft.com/office/drawing/2014/main" id="{626490DC-9DD8-43C6-8EC6-2218F0AD0BFD}"/>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Each clip saves independently, allowing interrupted notebook jobs to resume.</a:t>
            </a:r>
          </a:p>
        </p:txBody>
      </p:sp>
      <p:sp>
        <p:nvSpPr>
          <p:cNvPr id="5" name="">
            <a:extLst xmlns:a="http://schemas.openxmlformats.org/drawingml/2006/main">
              <a:ext uri="{FF2B5EF4-FFF2-40B4-BE49-F238E27FC236}">
                <a16:creationId xmlns:a16="http://schemas.microsoft.com/office/drawing/2014/main" id="{48673231-266E-4297-8254-BE98DD9308AA}"/>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Generation has at most three parsing attempts and one explicit critic retry.</a:t>
            </a:r>
          </a:p>
        </p:txBody>
      </p:sp>
      <p:sp>
        <p:nvSpPr>
          <p:cNvPr id="6" name="">
            <a:extLst xmlns:a="http://schemas.openxmlformats.org/drawingml/2006/main">
              <a:ext uri="{FF2B5EF4-FFF2-40B4-BE49-F238E27FC236}">
                <a16:creationId xmlns:a16="http://schemas.microsoft.com/office/drawing/2014/main" id="{A820BA95-223C-4B58-BE5A-27A9F6759242}"/>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The default CPU console consumes validated cached outputs.</a:t>
            </a:r>
          </a:p>
        </p:txBody>
      </p:sp>
      <p:sp>
        <p:nvSpPr>
          <p:cNvPr id="7" name="">
            <a:extLst xmlns:a="http://schemas.openxmlformats.org/drawingml/2006/main">
              <a:ext uri="{FF2B5EF4-FFF2-40B4-BE49-F238E27FC236}">
                <a16:creationId xmlns:a16="http://schemas.microsoft.com/office/drawing/2014/main" id="{0ABD8255-3391-49AE-92A8-C59179E1CA9C}"/>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11 / 20</a:t>
            </a:r>
          </a:p>
        </p:txBody>
      </p:sp>
    </p:spTree>
    <p:extLst>
      <p:ext uri="{BB962C8B-B14F-4D97-AF65-F5344CB8AC3E}">
        <p14:creationId xmlns:p14="http://schemas.microsoft.com/office/powerpoint/2010/main" val="20979324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D555F5-4126-4B12-BF1E-A90CB21BEEA6}"/>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The rejected knife claim</a:t>
            </a:r>
          </a:p>
        </p:txBody>
      </p:sp>
      <p:sp>
        <p:nvSpPr>
          <p:cNvPr id="2" name="">
            <a:extLst xmlns:a="http://schemas.openxmlformats.org/drawingml/2006/main">
              <a:ext uri="{FF2B5EF4-FFF2-40B4-BE49-F238E27FC236}">
                <a16:creationId xmlns:a16="http://schemas.microsoft.com/office/drawing/2014/main" id="{5A7B43FE-577A-4F2B-AC4C-C1FA8BFC9182}"/>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A visible example of missing supporting evidence</a:t>
            </a:r>
          </a:p>
        </p:txBody>
      </p:sp>
      <p:sp>
        <p:nvSpPr>
          <p:cNvPr id="3" name="">
            <a:extLst xmlns:a="http://schemas.openxmlformats.org/drawingml/2006/main">
              <a:ext uri="{FF2B5EF4-FFF2-40B4-BE49-F238E27FC236}">
                <a16:creationId xmlns:a16="http://schemas.microsoft.com/office/drawing/2014/main" id="{8B5FE5FA-B4DC-491A-AD95-330C9965D5FC}"/>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Authored output says a person is holding a knife.</a:t>
            </a:r>
          </a:p>
        </p:txBody>
      </p:sp>
      <p:sp>
        <p:nvSpPr>
          <p:cNvPr id="4" name="">
            <a:extLst xmlns:a="http://schemas.openxmlformats.org/drawingml/2006/main">
              <a:ext uri="{FF2B5EF4-FFF2-40B4-BE49-F238E27FC236}">
                <a16:creationId xmlns:a16="http://schemas.microsoft.com/office/drawing/2014/main" id="{CE8C22CD-12D0-42C4-BDB5-47DDCCEBAE3D}"/>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The synthetic detector evidence supports people and a bag.</a:t>
            </a:r>
          </a:p>
        </p:txBody>
      </p:sp>
      <p:sp>
        <p:nvSpPr>
          <p:cNvPr id="5" name="">
            <a:extLst xmlns:a="http://schemas.openxmlformats.org/drawingml/2006/main">
              <a:ext uri="{FF2B5EF4-FFF2-40B4-BE49-F238E27FC236}">
                <a16:creationId xmlns:a16="http://schemas.microsoft.com/office/drawing/2014/main" id="{4D2E8461-7952-4771-A94B-FEC6B4D23C8C}"/>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The critic rejects the knife claim and leaves it visible in the ledger.</a:t>
            </a:r>
          </a:p>
        </p:txBody>
      </p:sp>
      <p:sp>
        <p:nvSpPr>
          <p:cNvPr id="6" name="">
            <a:extLst xmlns:a="http://schemas.openxmlformats.org/drawingml/2006/main">
              <a:ext uri="{FF2B5EF4-FFF2-40B4-BE49-F238E27FC236}">
                <a16:creationId xmlns:a16="http://schemas.microsoft.com/office/drawing/2014/main" id="{0A13E35A-00FB-4864-B60F-6EA6178AE9BD}"/>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 detector miss still means missing support, not proof of absence.</a:t>
            </a:r>
          </a:p>
        </p:txBody>
      </p:sp>
      <p:sp>
        <p:nvSpPr>
          <p:cNvPr id="7" name="">
            <a:extLst xmlns:a="http://schemas.openxmlformats.org/drawingml/2006/main">
              <a:ext uri="{FF2B5EF4-FFF2-40B4-BE49-F238E27FC236}">
                <a16:creationId xmlns:a16="http://schemas.microsoft.com/office/drawing/2014/main" id="{91B6759F-18FA-4A52-9C55-516DFD25E4A7}"/>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12 / 20</a:t>
            </a:r>
          </a:p>
        </p:txBody>
      </p:sp>
    </p:spTree>
    <p:extLst>
      <p:ext uri="{BB962C8B-B14F-4D97-AF65-F5344CB8AC3E}">
        <p14:creationId xmlns:p14="http://schemas.microsoft.com/office/powerpoint/2010/main" val="727275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C49586-4AF6-47D7-AE4A-32210FB11F47}"/>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Verification rules</a:t>
            </a:r>
          </a:p>
        </p:txBody>
      </p:sp>
      <p:sp>
        <p:nvSpPr>
          <p:cNvPr id="2" name="">
            <a:extLst xmlns:a="http://schemas.openxmlformats.org/drawingml/2006/main">
              <a:ext uri="{FF2B5EF4-FFF2-40B4-BE49-F238E27FC236}">
                <a16:creationId xmlns:a16="http://schemas.microsoft.com/office/drawing/2014/main" id="{B1D8A987-DC7C-4CF1-89E2-506F7041DEC2}"/>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Conservative semantics limit unsupported certainty</a:t>
            </a:r>
          </a:p>
        </p:txBody>
      </p:sp>
      <p:sp>
        <p:nvSpPr>
          <p:cNvPr id="3" name="">
            <a:extLst xmlns:a="http://schemas.openxmlformats.org/drawingml/2006/main">
              <a:ext uri="{FF2B5EF4-FFF2-40B4-BE49-F238E27FC236}">
                <a16:creationId xmlns:a16="http://schemas.microsoft.com/office/drawing/2014/main" id="{FD77E536-E7A3-448A-9472-A14B0249AAB7}"/>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Inspect sentence text as well as declared entities.</a:t>
            </a:r>
          </a:p>
        </p:txBody>
      </p:sp>
      <p:sp>
        <p:nvSpPr>
          <p:cNvPr id="4" name="">
            <a:extLst xmlns:a="http://schemas.openxmlformats.org/drawingml/2006/main">
              <a:ext uri="{FF2B5EF4-FFF2-40B4-BE49-F238E27FC236}">
                <a16:creationId xmlns:a16="http://schemas.microsoft.com/office/drawing/2014/main" id="{D0954BB0-C87B-4B11-88A1-617F189935C2}"/>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Check object support, simultaneous counts and the claimed interval.</a:t>
            </a:r>
          </a:p>
        </p:txBody>
      </p:sp>
      <p:sp>
        <p:nvSpPr>
          <p:cNvPr id="5" name="">
            <a:extLst xmlns:a="http://schemas.openxmlformats.org/drawingml/2006/main">
              <a:ext uri="{FF2B5EF4-FFF2-40B4-BE49-F238E27FC236}">
                <a16:creationId xmlns:a16="http://schemas.microsoft.com/office/drawing/2014/main" id="{6DC6440B-56C6-4F30-8E9F-8DF1DBCFCE60}"/>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Use curated aliases and one-way hypernym matching.</a:t>
            </a:r>
          </a:p>
        </p:txBody>
      </p:sp>
      <p:sp>
        <p:nvSpPr>
          <p:cNvPr id="6" name="">
            <a:extLst xmlns:a="http://schemas.openxmlformats.org/drawingml/2006/main">
              <a:ext uri="{FF2B5EF4-FFF2-40B4-BE49-F238E27FC236}">
                <a16:creationId xmlns:a16="http://schemas.microsoft.com/office/drawing/2014/main" id="{633472C6-591F-4F15-ABFD-CD19D3CD0B79}"/>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Downgrade intent and unsupported interactions; never add new claims.</a:t>
            </a:r>
          </a:p>
        </p:txBody>
      </p:sp>
      <p:sp>
        <p:nvSpPr>
          <p:cNvPr id="7" name="">
            <a:extLst xmlns:a="http://schemas.openxmlformats.org/drawingml/2006/main">
              <a:ext uri="{FF2B5EF4-FFF2-40B4-BE49-F238E27FC236}">
                <a16:creationId xmlns:a16="http://schemas.microsoft.com/office/drawing/2014/main" id="{C3361D92-0AB9-4876-BA41-6306194003A0}"/>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13 / 20</a:t>
            </a:r>
          </a:p>
        </p:txBody>
      </p:sp>
    </p:spTree>
    <p:extLst>
      <p:ext uri="{BB962C8B-B14F-4D97-AF65-F5344CB8AC3E}">
        <p14:creationId xmlns:p14="http://schemas.microsoft.com/office/powerpoint/2010/main" val="10676640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1B0126-972B-4357-834E-844AD04F2A5C}"/>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Interpretable severity</a:t>
            </a:r>
          </a:p>
        </p:txBody>
      </p:sp>
      <p:sp>
        <p:nvSpPr>
          <p:cNvPr id="2" name="">
            <a:extLst xmlns:a="http://schemas.openxmlformats.org/drawingml/2006/main">
              <a:ext uri="{FF2B5EF4-FFF2-40B4-BE49-F238E27FC236}">
                <a16:creationId xmlns:a16="http://schemas.microsoft.com/office/drawing/2014/main" id="{32F2F5F1-1785-4AEF-8A87-20B3A0733800}"/>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Thirteen factors with nonnegative contributions</a:t>
            </a:r>
          </a:p>
        </p:txBody>
      </p:sp>
      <p:sp>
        <p:nvSpPr>
          <p:cNvPr id="3" name="">
            <a:extLst xmlns:a="http://schemas.openxmlformats.org/drawingml/2006/main">
              <a:ext uri="{FF2B5EF4-FFF2-40B4-BE49-F238E27FC236}">
                <a16:creationId xmlns:a16="http://schemas.microsoft.com/office/drawing/2014/main" id="{C332A269-551E-4FB7-A0CB-DB0E6B38DA5C}"/>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Only VERIFIED OBSERVATION claims contribute automatic factors.</a:t>
            </a:r>
          </a:p>
        </p:txBody>
      </p:sp>
      <p:sp>
        <p:nvSpPr>
          <p:cNvPr id="4" name="">
            <a:extLst xmlns:a="http://schemas.openxmlformats.org/drawingml/2006/main">
              <a:ext uri="{FF2B5EF4-FFF2-40B4-BE49-F238E27FC236}">
                <a16:creationId xmlns:a16="http://schemas.microsoft.com/office/drawing/2014/main" id="{E00AE9B1-20EC-43E1-AAD7-2342EDB803FE}"/>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Seven context or event factors remain unavailable without independent support.</a:t>
            </a:r>
          </a:p>
        </p:txBody>
      </p:sp>
      <p:sp>
        <p:nvSpPr>
          <p:cNvPr id="5" name="">
            <a:extLst xmlns:a="http://schemas.openxmlformats.org/drawingml/2006/main">
              <a:ext uri="{FF2B5EF4-FFF2-40B4-BE49-F238E27FC236}">
                <a16:creationId xmlns:a16="http://schemas.microsoft.com/office/drawing/2014/main" id="{E4A15D31-2C01-41BA-9511-1A71B1001E00}"/>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 constrained ordinal fitting tool learns weights from independent human ratings.</a:t>
            </a:r>
          </a:p>
        </p:txBody>
      </p:sp>
      <p:sp>
        <p:nvSpPr>
          <p:cNvPr id="6" name="">
            <a:extLst xmlns:a="http://schemas.openxmlformats.org/drawingml/2006/main">
              <a:ext uri="{FF2B5EF4-FFF2-40B4-BE49-F238E27FC236}">
                <a16:creationId xmlns:a16="http://schemas.microsoft.com/office/drawing/2014/main" id="{51AE688E-ABB8-41D5-ACE3-8127E52D1948}"/>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Reference weights are uncalibrated until fitting and held-out evaluation.</a:t>
            </a:r>
          </a:p>
        </p:txBody>
      </p:sp>
      <p:sp>
        <p:nvSpPr>
          <p:cNvPr id="7" name="">
            <a:extLst xmlns:a="http://schemas.openxmlformats.org/drawingml/2006/main">
              <a:ext uri="{FF2B5EF4-FFF2-40B4-BE49-F238E27FC236}">
                <a16:creationId xmlns:a16="http://schemas.microsoft.com/office/drawing/2014/main" id="{1C7BD520-38D8-455E-9E42-0DE41AB057EE}"/>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14 / 20</a:t>
            </a:r>
          </a:p>
        </p:txBody>
      </p:sp>
    </p:spTree>
    <p:extLst>
      <p:ext uri="{BB962C8B-B14F-4D97-AF65-F5344CB8AC3E}">
        <p14:creationId xmlns:p14="http://schemas.microsoft.com/office/powerpoint/2010/main" val="11354831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DA34C1-8376-436A-87E5-6F90DC172DCD}"/>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Policy and human review</a:t>
            </a:r>
          </a:p>
        </p:txBody>
      </p:sp>
      <p:sp>
        <p:nvSpPr>
          <p:cNvPr id="2" name="">
            <a:extLst xmlns:a="http://schemas.openxmlformats.org/drawingml/2006/main">
              <a:ext uri="{FF2B5EF4-FFF2-40B4-BE49-F238E27FC236}">
                <a16:creationId xmlns:a16="http://schemas.microsoft.com/office/drawing/2014/main" id="{360B9D34-323E-4BF7-AE18-846B716C5151}"/>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Exactly twelve recommendation tokens</a:t>
            </a:r>
          </a:p>
        </p:txBody>
      </p:sp>
      <p:sp>
        <p:nvSpPr>
          <p:cNvPr id="3" name="">
            <a:extLst xmlns:a="http://schemas.openxmlformats.org/drawingml/2006/main">
              <a:ext uri="{FF2B5EF4-FFF2-40B4-BE49-F238E27FC236}">
                <a16:creationId xmlns:a16="http://schemas.microsoft.com/office/drawing/2014/main" id="{2C103DF9-29B9-466C-970B-3BCDB9452A79}"/>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The policy table proposes actions from category and severity.</a:t>
            </a:r>
          </a:p>
        </p:txBody>
      </p:sp>
      <p:sp>
        <p:nvSpPr>
          <p:cNvPr id="4" name="">
            <a:extLst xmlns:a="http://schemas.openxmlformats.org/drawingml/2006/main">
              <a:ext uri="{FF2B5EF4-FFF2-40B4-BE49-F238E27FC236}">
                <a16:creationId xmlns:a16="http://schemas.microsoft.com/office/drawing/2014/main" id="{E43403F6-0D11-4C87-B889-CAEDFBB8B2C0}"/>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 validator strips unknown tokens and counts every invalid proposal.</a:t>
            </a:r>
          </a:p>
        </p:txBody>
      </p:sp>
      <p:sp>
        <p:nvSpPr>
          <p:cNvPr id="5" name="">
            <a:extLst xmlns:a="http://schemas.openxmlformats.org/drawingml/2006/main">
              <a:ext uri="{FF2B5EF4-FFF2-40B4-BE49-F238E27FC236}">
                <a16:creationId xmlns:a16="http://schemas.microsoft.com/office/drawing/2014/main" id="{D0759363-E2F8-4FA5-805D-E1AB93E87F02}"/>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Confirm and dismiss create transactional append-only audit entries.</a:t>
            </a:r>
          </a:p>
        </p:txBody>
      </p:sp>
      <p:sp>
        <p:nvSpPr>
          <p:cNvPr id="6" name="">
            <a:extLst xmlns:a="http://schemas.openxmlformats.org/drawingml/2006/main">
              <a:ext uri="{FF2B5EF4-FFF2-40B4-BE49-F238E27FC236}">
                <a16:creationId xmlns:a16="http://schemas.microsoft.com/office/drawing/2014/main" id="{6027973D-6752-4AE8-A4AA-DD9B25A3CE1C}"/>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No code dispatches responders, sends messages or performs enforcement.</a:t>
            </a:r>
          </a:p>
        </p:txBody>
      </p:sp>
      <p:sp>
        <p:nvSpPr>
          <p:cNvPr id="7" name="">
            <a:extLst xmlns:a="http://schemas.openxmlformats.org/drawingml/2006/main">
              <a:ext uri="{FF2B5EF4-FFF2-40B4-BE49-F238E27FC236}">
                <a16:creationId xmlns:a16="http://schemas.microsoft.com/office/drawing/2014/main" id="{32481C69-D58F-444C-82D8-0A56475E2E46}"/>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15 / 20</a:t>
            </a:r>
          </a:p>
        </p:txBody>
      </p:sp>
    </p:spTree>
    <p:extLst>
      <p:ext uri="{BB962C8B-B14F-4D97-AF65-F5344CB8AC3E}">
        <p14:creationId xmlns:p14="http://schemas.microsoft.com/office/powerpoint/2010/main" val="8514633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D11D72-CF52-4A20-9EAA-8A0A1AE988FE}"/>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SIRB annotation workflow</a:t>
            </a:r>
          </a:p>
        </p:txBody>
      </p:sp>
      <p:sp>
        <p:nvSpPr>
          <p:cNvPr id="2" name="">
            <a:extLst xmlns:a="http://schemas.openxmlformats.org/drawingml/2006/main">
              <a:ext uri="{FF2B5EF4-FFF2-40B4-BE49-F238E27FC236}">
                <a16:creationId xmlns:a16="http://schemas.microsoft.com/office/drawing/2014/main" id="{E4C5D396-C037-40B8-BBE7-233425BD311E}"/>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Independent review precedes adjudication</a:t>
            </a:r>
          </a:p>
        </p:txBody>
      </p:sp>
      <p:sp>
        <p:nvSpPr>
          <p:cNvPr id="3" name="">
            <a:extLst xmlns:a="http://schemas.openxmlformats.org/drawingml/2006/main">
              <a:ext uri="{FF2B5EF4-FFF2-40B4-BE49-F238E27FC236}">
                <a16:creationId xmlns:a16="http://schemas.microsoft.com/office/drawing/2014/main" id="{417C3999-F04F-4C85-B729-7798BA739782}"/>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 deterministic sampling manifest assigns 20 percent overlap.</a:t>
            </a:r>
          </a:p>
        </p:txBody>
      </p:sp>
      <p:sp>
        <p:nvSpPr>
          <p:cNvPr id="4" name="">
            <a:extLst xmlns:a="http://schemas.openxmlformats.org/drawingml/2006/main">
              <a:ext uri="{FF2B5EF4-FFF2-40B4-BE49-F238E27FC236}">
                <a16:creationId xmlns:a16="http://schemas.microsoft.com/office/drawing/2014/main" id="{705C602C-B030-43CC-8333-08F0856F473C}"/>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Operators enter factors, overall score, action labels and evidence spans.</a:t>
            </a:r>
          </a:p>
        </p:txBody>
      </p:sp>
      <p:sp>
        <p:nvSpPr>
          <p:cNvPr id="5" name="">
            <a:extLst xmlns:a="http://schemas.openxmlformats.org/drawingml/2006/main">
              <a:ext uri="{FF2B5EF4-FFF2-40B4-BE49-F238E27FC236}">
                <a16:creationId xmlns:a16="http://schemas.microsoft.com/office/drawing/2014/main" id="{5545B997-9DE3-4B16-AA84-7EC9E9F0B7B2}"/>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Independent sessions remain separate until a third review resolves disagreements.</a:t>
            </a:r>
          </a:p>
        </p:txBody>
      </p:sp>
      <p:sp>
        <p:nvSpPr>
          <p:cNvPr id="6" name="">
            <a:extLst xmlns:a="http://schemas.openxmlformats.org/drawingml/2006/main">
              <a:ext uri="{FF2B5EF4-FFF2-40B4-BE49-F238E27FC236}">
                <a16:creationId xmlns:a16="http://schemas.microsoft.com/office/drawing/2014/main" id="{C9628961-7776-4D03-BE43-43F06A92D9D6}"/>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Annotation-only export excludes synthetic practice labels and source footage.</a:t>
            </a:r>
          </a:p>
        </p:txBody>
      </p:sp>
      <p:sp>
        <p:nvSpPr>
          <p:cNvPr id="7" name="">
            <a:extLst xmlns:a="http://schemas.openxmlformats.org/drawingml/2006/main">
              <a:ext uri="{FF2B5EF4-FFF2-40B4-BE49-F238E27FC236}">
                <a16:creationId xmlns:a16="http://schemas.microsoft.com/office/drawing/2014/main" id="{E70E4724-1AAE-43EF-8CD7-D84A2243ECA9}"/>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16 / 20</a:t>
            </a:r>
          </a:p>
        </p:txBody>
      </p:sp>
    </p:spTree>
    <p:extLst>
      <p:ext uri="{BB962C8B-B14F-4D97-AF65-F5344CB8AC3E}">
        <p14:creationId xmlns:p14="http://schemas.microsoft.com/office/powerpoint/2010/main" val="21063775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D592F9-9CA3-4D25-8047-D8511288F1B8}"/>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Executed software checks</a:t>
            </a:r>
          </a:p>
        </p:txBody>
      </p:sp>
      <p:sp>
        <p:nvSpPr>
          <p:cNvPr id="2" name="">
            <a:extLst xmlns:a="http://schemas.openxmlformats.org/drawingml/2006/main">
              <a:ext uri="{FF2B5EF4-FFF2-40B4-BE49-F238E27FC236}">
                <a16:creationId xmlns:a16="http://schemas.microsoft.com/office/drawing/2014/main" id="{8E6F50C5-98CB-4573-BBD4-D2B93AF321FA}"/>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Synthetic fixtures only</a:t>
            </a:r>
          </a:p>
        </p:txBody>
      </p:sp>
      <p:graphicFrame>
        <p:nvGraphicFramePr>
          <p:cNvPr id="8" name="Chart"/>
          <p:cNvGraphicFramePr/>
          <p:nvPr/>
        </p:nvGraphicFramePr>
        <p:xfrm>
          <a:off xmlns:a="http://schemas.openxmlformats.org/drawingml/2006/main" x="714375" y="2333625"/>
          <a:ext xmlns:a="http://schemas.openxmlformats.org/drawingml/2006/main" cx="6477000" cy="3381375"/>
        </p:xfrm>
        <a:graphic xmlns:a="http://schemas.openxmlformats.org/drawingml/2006/main">
          <a:graphicData uri="http://schemas.openxmlformats.org/drawingml/2006/chart">
            <c:chart xmlns:r="http://schemas.openxmlformats.org/officeDocument/2006/relationships" xmlns:c="http://schemas.openxmlformats.org/drawingml/2006/chart" r:id="R50d8107e8d394624"/>
          </a:graphicData>
        </a:graphic>
      </p:graphicFrame>
      <p:sp>
        <p:nvSpPr>
          <p:cNvPr id="4" name="">
            <a:extLst xmlns:a="http://schemas.openxmlformats.org/drawingml/2006/main">
              <a:ext uri="{FF2B5EF4-FFF2-40B4-BE49-F238E27FC236}">
                <a16:creationId xmlns:a16="http://schemas.microsoft.com/office/drawing/2014/main" id="{5422B2C9-3810-44C1-8120-8C154DE4EA4A}"/>
              </a:ext>
            </a:extLst>
          </p:cNvPr>
          <p:cNvSpPr>
            <a:spLocks xmlns:a="http://schemas.openxmlformats.org/drawingml/2006/main" noGrp="1"/>
          </p:cNvSpPr>
          <p:nvPr/>
        </p:nvSpPr>
        <p:spPr>
          <a:xfrm xmlns:a="http://schemas.openxmlformats.org/drawingml/2006/main">
            <a:off x="7620000" y="2667000"/>
            <a:ext cx="3619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435"/>
                </a:solidFill>
                <a:latin typeface="Arial"/>
                <a:ea typeface="Arial"/>
                <a:cs typeface="Arial"/>
              </a:defRPr>
            </a:pPr>
            <a:r>
              <a:rPr sz="2100" b="0">
                <a:solidFill>
                  <a:srgbClr val="152435"/>
                </a:solidFill>
                <a:latin typeface="Arial"/>
                <a:ea typeface="Arial"/>
                <a:cs typeface="Arial"/>
              </a:rPr>
              <a:t>8 synthetic scenes</a:t>
            </a:r>
          </a:p>
          <a:p xmlns:a="http://schemas.openxmlformats.org/drawingml/2006/main">
            <a:r>
              <a:t/>
            </a:r>
          </a:p>
          <a:p xmlns:a="http://schemas.openxmlformats.org/drawingml/2006/main">
            <a:pPr>
              <a:defRPr sz="2100" b="0">
                <a:solidFill>
                  <a:srgbClr val="152435"/>
                </a:solidFill>
                <a:latin typeface="Arial"/>
                <a:ea typeface="Arial"/>
                <a:cs typeface="Arial"/>
              </a:defRPr>
            </a:pPr>
            <a:r>
              <a:rPr sz="2100" b="0">
                <a:solidFill>
                  <a:srgbClr val="152435"/>
                </a:solidFill>
                <a:latin typeface="Arial"/>
                <a:ea typeface="Arial"/>
                <a:cs typeface="Arial"/>
              </a:rPr>
              <a:t>0 normal-run policy violations</a:t>
            </a:r>
          </a:p>
          <a:p xmlns:a="http://schemas.openxmlformats.org/drawingml/2006/main">
            <a:r>
              <a:t/>
            </a:r>
          </a:p>
          <a:p xmlns:a="http://schemas.openxmlformats.org/drawingml/2006/main">
            <a:pPr>
              <a:defRPr sz="2100" b="0">
                <a:solidFill>
                  <a:srgbClr val="152435"/>
                </a:solidFill>
                <a:latin typeface="Arial"/>
                <a:ea typeface="Arial"/>
                <a:cs typeface="Arial"/>
              </a:defRPr>
            </a:pPr>
            <a:r>
              <a:rPr sz="2100" b="0">
                <a:solidFill>
                  <a:srgbClr val="152435"/>
                </a:solidFill>
                <a:latin typeface="Arial"/>
                <a:ea typeface="Arial"/>
                <a:cs typeface="Arial"/>
              </a:rPr>
              <a:t>4 of 4 injected invalid actions stripped</a:t>
            </a:r>
          </a:p>
        </p:txBody>
      </p:sp>
      <p:sp>
        <p:nvSpPr>
          <p:cNvPr id="5" name="">
            <a:extLst xmlns:a="http://schemas.openxmlformats.org/drawingml/2006/main">
              <a:ext uri="{FF2B5EF4-FFF2-40B4-BE49-F238E27FC236}">
                <a16:creationId xmlns:a16="http://schemas.microsoft.com/office/drawing/2014/main" id="{535C6305-852A-411E-A5F0-2362E880622A}"/>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17 / 20</a:t>
            </a:r>
          </a:p>
        </p:txBody>
      </p:sp>
    </p:spTree>
    <p:extLst>
      <p:ext uri="{BB962C8B-B14F-4D97-AF65-F5344CB8AC3E}">
        <p14:creationId xmlns:p14="http://schemas.microsoft.com/office/powerpoint/2010/main" val="20261660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D6E0EC-C50B-4BE1-9AD1-8E4582F6345D}"/>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Research evaluation status</a:t>
            </a:r>
          </a:p>
        </p:txBody>
      </p:sp>
      <p:sp>
        <p:nvSpPr>
          <p:cNvPr id="2" name="">
            <a:extLst xmlns:a="http://schemas.openxmlformats.org/drawingml/2006/main">
              <a:ext uri="{FF2B5EF4-FFF2-40B4-BE49-F238E27FC236}">
                <a16:creationId xmlns:a16="http://schemas.microsoft.com/office/drawing/2014/main" id="{BE1B3A58-E428-4F0F-9064-CA6C7126EB7F}"/>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Real experiments remain pending</a:t>
            </a:r>
          </a:p>
        </p:txBody>
      </p:sp>
      <p:sp>
        <p:nvSpPr>
          <p:cNvPr id="3" name="">
            <a:extLst xmlns:a="http://schemas.openxmlformats.org/drawingml/2006/main">
              <a:ext uri="{FF2B5EF4-FFF2-40B4-BE49-F238E27FC236}">
                <a16:creationId xmlns:a16="http://schemas.microsoft.com/office/drawing/2014/main" id="{CBF26C63-1849-41B4-ACAD-99FFA0251055}"/>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UCF frame AUC and UCA temporal overlap need real labels and model outputs.</a:t>
            </a:r>
          </a:p>
        </p:txBody>
      </p:sp>
      <p:sp>
        <p:nvSpPr>
          <p:cNvPr id="4" name="">
            <a:extLst xmlns:a="http://schemas.openxmlformats.org/drawingml/2006/main">
              <a:ext uri="{FF2B5EF4-FFF2-40B4-BE49-F238E27FC236}">
                <a16:creationId xmlns:a16="http://schemas.microsoft.com/office/drawing/2014/main" id="{F8471BC2-41FE-4758-AFD8-C7BFDE8B2CFD}"/>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XD AP requires held-out cross-dataset inference.</a:t>
            </a:r>
          </a:p>
        </p:txBody>
      </p:sp>
      <p:sp>
        <p:nvSpPr>
          <p:cNvPr id="5" name="">
            <a:extLst xmlns:a="http://schemas.openxmlformats.org/drawingml/2006/main">
              <a:ext uri="{FF2B5EF4-FFF2-40B4-BE49-F238E27FC236}">
                <a16:creationId xmlns:a16="http://schemas.microsoft.com/office/drawing/2014/main" id="{2105D105-8269-437A-ACD1-7C1CAA441E7E}"/>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Severity kappa, rho and MAE need human ratings and held-out predictions.</a:t>
            </a:r>
          </a:p>
        </p:txBody>
      </p:sp>
      <p:sp>
        <p:nvSpPr>
          <p:cNvPr id="6" name="">
            <a:extLst xmlns:a="http://schemas.openxmlformats.org/drawingml/2006/main">
              <a:ext uri="{FF2B5EF4-FFF2-40B4-BE49-F238E27FC236}">
                <a16:creationId xmlns:a16="http://schemas.microsoft.com/office/drawing/2014/main" id="{189DB1CD-1602-490A-A31D-AA947B0D8CE7}"/>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7B/3B and evidence-conditioning ablations require paired model runs.</a:t>
            </a:r>
          </a:p>
        </p:txBody>
      </p:sp>
      <p:sp>
        <p:nvSpPr>
          <p:cNvPr id="7" name="">
            <a:extLst xmlns:a="http://schemas.openxmlformats.org/drawingml/2006/main">
              <a:ext uri="{FF2B5EF4-FFF2-40B4-BE49-F238E27FC236}">
                <a16:creationId xmlns:a16="http://schemas.microsoft.com/office/drawing/2014/main" id="{CF6AEC8D-0CC3-47D3-87DB-4F354920F978}"/>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18 / 20</a:t>
            </a:r>
          </a:p>
        </p:txBody>
      </p:sp>
    </p:spTree>
    <p:extLst>
      <p:ext uri="{BB962C8B-B14F-4D97-AF65-F5344CB8AC3E}">
        <p14:creationId xmlns:p14="http://schemas.microsoft.com/office/powerpoint/2010/main" val="4976394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675A2A-6E95-4559-8AAE-B64D5D17A1BA}"/>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Ethics and limitations</a:t>
            </a:r>
          </a:p>
        </p:txBody>
      </p:sp>
      <p:sp>
        <p:nvSpPr>
          <p:cNvPr id="2" name="">
            <a:extLst xmlns:a="http://schemas.openxmlformats.org/drawingml/2006/main">
              <a:ext uri="{FF2B5EF4-FFF2-40B4-BE49-F238E27FC236}">
                <a16:creationId xmlns:a16="http://schemas.microsoft.com/office/drawing/2014/main" id="{49DF08B8-7002-4009-88D5-418181CD0BBD}"/>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The delivery is local academic software</a:t>
            </a:r>
          </a:p>
        </p:txBody>
      </p:sp>
      <p:sp>
        <p:nvSpPr>
          <p:cNvPr id="3" name="">
            <a:extLst xmlns:a="http://schemas.openxmlformats.org/drawingml/2006/main">
              <a:ext uri="{FF2B5EF4-FFF2-40B4-BE49-F238E27FC236}">
                <a16:creationId xmlns:a16="http://schemas.microsoft.com/office/drawing/2014/main" id="{090EDA79-9F0D-49EB-B0EF-90754631A30D}"/>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No facial recognition, identity inference or cross-camera re-identification.</a:t>
            </a:r>
          </a:p>
        </p:txBody>
      </p:sp>
      <p:sp>
        <p:nvSpPr>
          <p:cNvPr id="4" name="">
            <a:extLst xmlns:a="http://schemas.openxmlformats.org/drawingml/2006/main">
              <a:ext uri="{FF2B5EF4-FFF2-40B4-BE49-F238E27FC236}">
                <a16:creationId xmlns:a16="http://schemas.microsoft.com/office/drawing/2014/main" id="{94B933E3-6FB3-4419-8A20-0735DB612796}"/>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No live streaming or automatic external action.</a:t>
            </a:r>
          </a:p>
        </p:txBody>
      </p:sp>
      <p:sp>
        <p:nvSpPr>
          <p:cNvPr id="5" name="">
            <a:extLst xmlns:a="http://schemas.openxmlformats.org/drawingml/2006/main">
              <a:ext uri="{FF2B5EF4-FFF2-40B4-BE49-F238E27FC236}">
                <a16:creationId xmlns:a16="http://schemas.microsoft.com/office/drawing/2014/main" id="{9F20BA8B-F139-4E86-8002-CC47D0D90741}"/>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Detector misses, ID switches and restricted language coverage remain limitations.</a:t>
            </a:r>
          </a:p>
        </p:txBody>
      </p:sp>
      <p:sp>
        <p:nvSpPr>
          <p:cNvPr id="6" name="">
            <a:extLst xmlns:a="http://schemas.openxmlformats.org/drawingml/2006/main">
              <a:ext uri="{FF2B5EF4-FFF2-40B4-BE49-F238E27FC236}">
                <a16:creationId xmlns:a16="http://schemas.microsoft.com/office/drawing/2014/main" id="{44CE2444-21B0-4906-97D0-8DC60C1E6FF4}"/>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Local sessions are not authenticated accounts; public deployment needs a separate design.</a:t>
            </a:r>
          </a:p>
        </p:txBody>
      </p:sp>
      <p:sp>
        <p:nvSpPr>
          <p:cNvPr id="7" name="">
            <a:extLst xmlns:a="http://schemas.openxmlformats.org/drawingml/2006/main">
              <a:ext uri="{FF2B5EF4-FFF2-40B4-BE49-F238E27FC236}">
                <a16:creationId xmlns:a16="http://schemas.microsoft.com/office/drawing/2014/main" id="{B2DED672-A9CB-4643-B601-4D6B076A8184}"/>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19 / 20</a:t>
            </a:r>
          </a:p>
        </p:txBody>
      </p:sp>
    </p:spTree>
    <p:extLst>
      <p:ext uri="{BB962C8B-B14F-4D97-AF65-F5344CB8AC3E}">
        <p14:creationId xmlns:p14="http://schemas.microsoft.com/office/powerpoint/2010/main" val="5310425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5DEA1C-564E-42BC-86C4-9BC37D3BD39E}"/>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435"/>
                </a:solidFill>
                <a:latin typeface="Arial"/>
                <a:ea typeface="Arial"/>
                <a:cs typeface="Arial"/>
              </a:defRPr>
            </a:pPr>
            <a:r>
              <a:rPr sz="3225" b="1">
                <a:solidFill>
                  <a:srgbClr val="152435"/>
                </a:solidFill>
                <a:latin typeface="Arial"/>
                <a:ea typeface="Arial"/>
                <a:cs typeface="Arial"/>
              </a:rPr>
              <a:t>Project delivery and next experiments</a:t>
            </a:r>
          </a:p>
        </p:txBody>
      </p:sp>
      <p:sp>
        <p:nvSpPr>
          <p:cNvPr id="2" name="">
            <a:extLst xmlns:a="http://schemas.openxmlformats.org/drawingml/2006/main">
              <a:ext uri="{FF2B5EF4-FFF2-40B4-BE49-F238E27FC236}">
                <a16:creationId xmlns:a16="http://schemas.microsoft.com/office/drawing/2014/main" id="{6809CD43-8E70-4929-B699-453C90AFD505}"/>
              </a:ext>
            </a:extLst>
          </p:cNvPr>
          <p:cNvSpPr>
            <a:spLocks xmlns:a="http://schemas.openxmlformats.org/drawingml/2006/main" noGrp="1"/>
          </p:cNvSpPr>
          <p:nvPr/>
        </p:nvSpPr>
        <p:spPr>
          <a:xfrm xmlns:a="http://schemas.openxmlformats.org/drawingml/2006/main">
            <a:off x="685800" y="15430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D90"/>
                </a:solidFill>
                <a:latin typeface="Arial"/>
                <a:ea typeface="Arial"/>
                <a:cs typeface="Arial"/>
              </a:defRPr>
            </a:pPr>
            <a:r>
              <a:rPr sz="1800" b="0">
                <a:solidFill>
                  <a:srgbClr val="087D90"/>
                </a:solidFill>
                <a:latin typeface="Arial"/>
                <a:ea typeface="Arial"/>
                <a:cs typeface="Arial"/>
              </a:rPr>
              <a:t>A runnable implementation with reproducible study tools</a:t>
            </a:r>
          </a:p>
        </p:txBody>
      </p:sp>
      <p:sp>
        <p:nvSpPr>
          <p:cNvPr id="3" name="">
            <a:extLst xmlns:a="http://schemas.openxmlformats.org/drawingml/2006/main">
              <a:ext uri="{FF2B5EF4-FFF2-40B4-BE49-F238E27FC236}">
                <a16:creationId xmlns:a16="http://schemas.microsoft.com/office/drawing/2014/main" id="{CCC649F9-7BF8-43DE-B430-9D11EA235DF4}"/>
              </a:ext>
            </a:extLst>
          </p:cNvPr>
          <p:cNvSpPr>
            <a:spLocks xmlns:a="http://schemas.openxmlformats.org/drawingml/2006/main" noGrp="1"/>
          </p:cNvSpPr>
          <p:nvPr/>
        </p:nvSpPr>
        <p:spPr>
          <a:xfrm xmlns:a="http://schemas.openxmlformats.org/drawingml/2006/main">
            <a:off x="704850" y="2400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Run start.ps1 and open the local console.</a:t>
            </a:r>
          </a:p>
        </p:txBody>
      </p:sp>
      <p:sp>
        <p:nvSpPr>
          <p:cNvPr id="4" name="">
            <a:extLst xmlns:a="http://schemas.openxmlformats.org/drawingml/2006/main">
              <a:ext uri="{FF2B5EF4-FFF2-40B4-BE49-F238E27FC236}">
                <a16:creationId xmlns:a16="http://schemas.microsoft.com/office/drawing/2014/main" id="{3A8A861A-5E11-4ECB-B254-C8F4D692D32B}"/>
              </a:ext>
            </a:extLst>
          </p:cNvPr>
          <p:cNvSpPr>
            <a:spLocks xmlns:a="http://schemas.openxmlformats.org/drawingml/2006/main" noGrp="1"/>
          </p:cNvSpPr>
          <p:nvPr/>
        </p:nvSpPr>
        <p:spPr>
          <a:xfrm xmlns:a="http://schemas.openxmlformats.org/drawingml/2006/main">
            <a:off x="704850" y="3238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Read the project guide for schemas, commands and annotation procedures.</a:t>
            </a:r>
          </a:p>
        </p:txBody>
      </p:sp>
      <p:sp>
        <p:nvSpPr>
          <p:cNvPr id="5" name="">
            <a:extLst xmlns:a="http://schemas.openxmlformats.org/drawingml/2006/main">
              <a:ext uri="{FF2B5EF4-FFF2-40B4-BE49-F238E27FC236}">
                <a16:creationId xmlns:a16="http://schemas.microsoft.com/office/drawing/2014/main" id="{3885EA0C-CD00-4EC2-9438-B9BFFA7F07EE}"/>
              </a:ext>
            </a:extLst>
          </p:cNvPr>
          <p:cNvSpPr>
            <a:spLocks xmlns:a="http://schemas.openxmlformats.org/drawingml/2006/main" noGrp="1"/>
          </p:cNvSpPr>
          <p:nvPr/>
        </p:nvSpPr>
        <p:spPr>
          <a:xfrm xmlns:a="http://schemas.openxmlformats.org/drawingml/2006/main">
            <a:off x="704850" y="4076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Obtain licensed data, run the research adapters and collect independent ratings.</a:t>
            </a:r>
          </a:p>
        </p:txBody>
      </p:sp>
      <p:sp>
        <p:nvSpPr>
          <p:cNvPr id="6" name="">
            <a:extLst xmlns:a="http://schemas.openxmlformats.org/drawingml/2006/main">
              <a:ext uri="{FF2B5EF4-FFF2-40B4-BE49-F238E27FC236}">
                <a16:creationId xmlns:a16="http://schemas.microsoft.com/office/drawing/2014/main" id="{B979DD3F-8E1D-4973-8FBB-18A8A3825FE1}"/>
              </a:ext>
            </a:extLst>
          </p:cNvPr>
          <p:cNvSpPr>
            <a:spLocks xmlns:a="http://schemas.openxmlformats.org/drawingml/2006/main" noGrp="1"/>
          </p:cNvSpPr>
          <p:nvPr/>
        </p:nvSpPr>
        <p:spPr>
          <a:xfrm xmlns:a="http://schemas.openxmlformats.org/drawingml/2006/main">
            <a:off x="70485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435"/>
                </a:solidFill>
                <a:latin typeface="Arial"/>
                <a:ea typeface="Arial"/>
                <a:cs typeface="Arial"/>
              </a:defRPr>
            </a:pPr>
            <a:r>
              <a:rPr sz="2025" b="0">
                <a:solidFill>
                  <a:srgbClr val="152435"/>
                </a:solidFill>
                <a:latin typeface="Arial"/>
                <a:ea typeface="Arial"/>
                <a:cs typeface="Arial"/>
              </a:rPr>
              <a:t>Replace pending findings only with results produced by the evaluation scripts.</a:t>
            </a:r>
          </a:p>
        </p:txBody>
      </p:sp>
      <p:sp>
        <p:nvSpPr>
          <p:cNvPr id="7" name="">
            <a:extLst xmlns:a="http://schemas.openxmlformats.org/drawingml/2006/main">
              <a:ext uri="{FF2B5EF4-FFF2-40B4-BE49-F238E27FC236}">
                <a16:creationId xmlns:a16="http://schemas.microsoft.com/office/drawing/2014/main" id="{E5169A1B-819E-4ACF-B039-7ABA47EE5847}"/>
              </a:ext>
            </a:extLst>
          </p:cNvPr>
          <p:cNvSpPr>
            <a:spLocks xmlns:a="http://schemas.openxmlformats.org/drawingml/2006/main" noGrp="1"/>
          </p:cNvSpPr>
          <p:nvPr/>
        </p:nvSpPr>
        <p:spPr>
          <a:xfrm xmlns:a="http://schemas.openxmlformats.org/drawingml/2006/main">
            <a:off x="10668000" y="63341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16173"/>
                </a:solidFill>
                <a:latin typeface="Arial"/>
                <a:ea typeface="Arial"/>
                <a:cs typeface="Arial"/>
              </a:defRPr>
            </a:pPr>
            <a:r>
              <a:rPr sz="1125" b="0">
                <a:solidFill>
                  <a:srgbClr val="516173"/>
                </a:solidFill>
                <a:latin typeface="Arial"/>
                <a:ea typeface="Arial"/>
                <a:cs typeface="Arial"/>
              </a:rPr>
              <a:t>20 / 20</a:t>
            </a:r>
          </a:p>
        </p:txBody>
      </p:sp>
    </p:spTree>
    <p:extLst>
      <p:ext uri="{BB962C8B-B14F-4D97-AF65-F5344CB8AC3E}">
        <p14:creationId xmlns:p14="http://schemas.microsoft.com/office/powerpoint/2010/main" val="729778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2026-09-11T19:25:42.1530000Z</dcterms:created>
  <dcterms:modified xsi:type="dcterms:W3CDTF">2026-09-11T19:25:42.1530000Z</dcterms:modified>
</coreProperties>
</file>